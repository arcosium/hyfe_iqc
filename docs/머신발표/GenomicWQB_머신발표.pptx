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시뮬 수</c:v>
                </c:pt>
              </c:strCache>
            </c:strRef>
          </c:tx>
          <c:spPr>
            <a:solidFill>
              <a:srgbClr val="4A443A">
                <a:alpha val="100000"/>
              </a:srgbClr>
            </a:solidFill>
            <a:effectLst/>
          </c:spPr>
          <c:invertIfNegative val="0"/>
          <c:dLbls>
            <c:numFmt formatCode="#,##0" sourceLinked="0"/>
            <c:txPr>
              <a:bodyPr/>
              <a:lstStyle/>
              <a:p>
                <a:pPr>
                  <a:defRPr b="0" i="0" strike="noStrike" sz="850" u="none">
                    <a:solidFill>
                      <a:srgbClr val="4A443A"/>
                    </a:solidFill>
                    <a:latin typeface="Noto Sans Mono CJK KR"/>
                  </a:defRPr>
                </a:pPr>
              </a:p>
            </c:txPr>
            <c:showLegendKey val="0"/>
            <c:showVal val="1"/>
            <c:showCatName val="0"/>
            <c:showSerName val="0"/>
            <c:showPercent val="0"/>
            <c:showBubbleSize val="0"/>
            <c:showLeaderLines val="0"/>
          </c:dLbls>
          <c:cat>
            <c:multiLvlStrRef>
              <c:f>Sheet1!$A$2:$A$9</c:f>
              <c:multiLvlStrCache>
                <c:ptCount val="8"/>
                <c:lvl>
                  <c:pt idx="0">
                    <c:v>옵션</c:v>
                  </c:pt>
                  <c:pt idx="1">
                    <c:v>펀더멘털</c:v>
                  </c:pt>
                  <c:pt idx="2">
                    <c:v>애널리스트</c:v>
                  </c:pt>
                  <c:pt idx="3">
                    <c:v>공매도</c:v>
                  </c:pt>
                  <c:pt idx="4">
                    <c:v>뉴스</c:v>
                  </c:pt>
                  <c:pt idx="5">
                    <c:v>수급 불균형</c:v>
                  </c:pt>
                  <c:pt idx="6">
                    <c:v>리스크 모델</c:v>
                  </c:pt>
                  <c:pt idx="7">
                    <c:v>가격·거래량</c:v>
                  </c:pt>
                </c:lvl>
              </c:multiLvlStrCache>
            </c:multiLvlStrRef>
          </c:cat>
          <c:val>
            <c:numRef>
              <c:f>Sheet1!$B$2:$B$9</c:f>
              <c:numCache>
                <c:formatCode>General</c:formatCode>
                <c:ptCount val="8"/>
                <c:pt idx="0">
                  <c:v>217</c:v>
                </c:pt>
                <c:pt idx="1">
                  <c:v>308</c:v>
                </c:pt>
                <c:pt idx="2">
                  <c:v>338</c:v>
                </c:pt>
                <c:pt idx="3">
                  <c:v>362</c:v>
                </c:pt>
                <c:pt idx="4">
                  <c:v>396</c:v>
                </c:pt>
                <c:pt idx="5">
                  <c:v>487</c:v>
                </c:pt>
                <c:pt idx="6">
                  <c:v>3233</c:v>
                </c:pt>
                <c:pt idx="7">
                  <c:v>5151</c:v>
                </c:pt>
              </c:numCache>
            </c:numRef>
          </c:val>
        </c:ser>
        <c:dLbls>
          <c:numFmt formatCode="#,##0" sourceLinked="0"/>
          <c:txPr>
            <a:bodyPr/>
            <a:lstStyle/>
            <a:p>
              <a:pPr>
                <a:defRPr b="0" i="0" strike="noStrike" sz="850" u="none">
                  <a:solidFill>
                    <a:srgbClr val="4A443A"/>
                  </a:solidFill>
                  <a:latin typeface="Noto Sans Mono CJK KR"/>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A443A"/>
                </a:solidFill>
                <a:latin typeface="Noto Sans CJK KR"/>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CFCBC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E675A"/>
                </a:solidFill>
                <a:latin typeface="Noto Sans Mono CJK KR"/>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김현호입니다. 오늘 소개할 것은 GenomicWQB — 브레인 위에서 알파를 스스로 만들고, 검증하고, 제출까지 하는 자동 발굴 머신입니다. 이름 그대로 알파를 '유전체'로 다루는 기계고, 지난 83일 동안 하루 평균 358번 실험을 돌렸습니다. 사람이 잘 때도 돌아간다는 게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왜 기계가 필요한지부터 말씀드리겠습니다. 컨설턴트는 하루에 알파를 최대 4건까지 제출할 수 있습니다. 채우려면 매일 좋은 후보가 나와야 합니다. 그런데 후보를 찾는 탐색 공간이 문제입니다. 필드 100개, 중립화 9종, 템플릿 5개만 잡아도 시뮬레이션이 4,500번, 옵션까지 넣으면 18,000번으로 불어납니다. 이건 사람이 손으로 할 수 있는 양이 아닙니다. 그래서 처음부터 기계를 전제로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기계의 한 바퀴, 즉 한 라운드는 다섯 단계입니다. 유전체 GA와 LLM 위원회가 후보를 설계하고, 시뮬 쿼터를 아끼기 위해 문법과 필드, 중복을 먼저 검문합니다. 통과한 후보만 브레인 REST API로 동시에 8개씩 시뮬레이션하고, 결과는 11개 체크로 채점해서 실패 원인까지 기록합니다. 잘 나온 알파는 엘리트 시드가 되어 다음 세대의 재료가 됩니다. 이 순환이 5월 9일부터 512라운드째 24시간 돌고 있습니다. 사람이 하는 일은 아침에 생체 인증 한 번, 그리고 전략 방향을 정해주는 것뿐입니다.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아이디어 첫 번째는 표현 방식입니다. 알파 수식을 문자열로 다루면 기계가 섞고 바꿀 수가 없습니다. 그래서 알파를 20여 개의 유전자로 쪼갰습니다. 어떤 데이터 계열을 쓰는지, 어떤 변환과 결합인지, 중립화와 감쇠는 무엇인지가 전부 유전자입니다. 렌더러가 이 유전자를 문법이 보장된 코드로 조립하기 때문에 문법 오류로 시뮬 쿼터를 버리는 일이 없습니다. 그리고 유전자를 하나 추가하면 교차, 변이, 스윕이 그 축을 전부 자동으로 탐색합니다. 템플릿 확장이 공짜라는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아이디어는 진화 방식입니다. 그냥 무작위로 변이시키지 않습니다. 실제 측정 사례 두 개를 보시면, 완전히 같은 식에서 중립화 하나만 바꿨더니 샤프가 1.72에서 2.47로 올랐고, 감쇠 하나만 바꿨더니 회전율이 100%에서 48%로 떨어졌습니다. 이런 인과는 여러 축을 동시에 흔들면 절대 배울 수 없습니다. 그래서 라운드마다 스윕 슬롯을 따로 두고, 성적이 좋은 엘리트 알파의 노브를 한 번에 하나씩만 바꿔서 무엇이 왜 좋았는지를 기계가 학습하게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아이디어는 역할 분담입니다. 어디를 팔지 정하는 건 LLM 위원회입니다. 라운드마다 어떤 축에 슬롯을 몇 개 쓸지 정책을 내고, 낡은 정책은 자동 폐기됩니다. 그 정책이 실제로 성과를 냈는지는 밴딧이 검증합니다. 통과 없는 시뮬만 쌓는 축은 감점돼서 쿼터가 수율 좋은 쪽으로 흐릅니다. 마지막으로 LLM이 낸 리서치 아이디어는 전략스펙이라는 형태로 변이 없이 원본 그대로 한 번 측정합니다. 아이디어의 성적을 정직하게 재고, 좋으면 그때 GA의 재료로 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생산성을 숫자로 말씀드리겠습니다. 83일 동안 시뮬레이션 29,748번, 라운드로는 512번, 하루 평균 358번 실험했습니다. 그중 브레인의 전 체크를 통과한 알파가 269개, 실제 제출까지 간 것이 34건입니다. 탐색한 세팅 조합만 2,096종입니다. 모든 숫자는 기계가 스스로 기록한 원장 데이터베이스에서 그대로 뽑은 실측값입니다.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다양성 이야기입니다. 유전체 기록을 집계해 보니 시뮬의 80%가 가격·거래량과 리스크 모델, 두 패밀리에 쏠려 있었습니다. 쏠림은 프로덕트 코릴레이션의 지름길이라, 두 가지 장치로 분산합니다. 첫째, 필드 팔레트의 절반은 반드시 미발굴 필드로 채웁니다. 알파카운트가 낮은 필드는 나쁜 게 아니라 남들이 아직 안 본 필드라는 강의 조언을 그대로 구현한 겁니다. 둘째, 오늘 애널리스트·펀더멘털·뉴스 계열의 강신호 시드 8종을 직접 주입해서 다음 라운드부터 탐색이 여섯 패밀리로 넓어집니다.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속도만큼 중요한 게 과적합 방지입니다. 네 겹의 장치가 있습니다. 첫째, 룩백 시간창은 표준 8종만 허용합니다. 데이터에 맞춘 이상한 창 자체가 만들어지지 않습니다. 둘째, 비교 실험은 항상 한 축만 바꿉니다. 셋째, 자기상관이 높거나 형제와 중복인 후보는 상관벽이 제출 전에 막습니다. 넷째, 브레인 체크에서 확정 탈락인 후보는 아예 제출을 시도하지 않아서 하루 4건의 귀한 제출 예산을 지킵니다. 요약하면, 만들 때 막고, 고를 때 막고, 낼 때 또 막는 삼중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운영에서 배운 것입니다. 오류 로그 400건을 분석해 보니 75%가 알파의 문제가 아니라 폴링과 대기열, 즉 우리 쪽 운영 코드의 문제였습니다. 그래서 세 가지를 고쳤습니다. 폴링 마감을 실측에 맞게 늘렸고, 서버의 Retry-After 계약을 지키게 했고, 시뮬이 시작됐는지를 상태 필드가 아니라 진행률로 판정하게 바꿔서 멀쩡히 돌던 시뮬을 버리던 버그를 잡았습니다. 이 경험에서 얻은 결론이 이 문장입니다. 머신 리서치의 절반은 리서치가 아니라 신뢰성 엔지니어링입니다.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앞으로 이 기계는 세 가지를 합니다. 8월 9일까지 열려 있는 GAC 글로벌 리전 무테마 구간에 제출을 집중하고, 오늘 시작한 미탐색 패밀리 시딩을 상시 루프로 만들어 쏠림을 구조적으로 막고, 부트캠프가 끝나면 같은 기계를 멀티 리전으로 수평 확장할 계획입니다. 발표 제목처럼, 이 기계는 오늘 밤에도 돌아갑니다.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4"/>
        </a:solidFill>
      </p:bgPr>
    </p:bg>
    <p:spTree>
      <p:nvGrpSpPr>
        <p:cNvPr id="1" name=""/>
        <p:cNvGrpSpPr/>
        <p:nvPr/>
      </p:nvGrpSpPr>
      <p:grpSpPr>
        <a:xfrm>
          <a:off x="0" y="0"/>
          <a:ext cx="0" cy="0"/>
          <a:chOff x="0" y="0"/>
          <a:chExt cx="0" cy="0"/>
        </a:xfrm>
      </p:grpSpPr>
      <p:sp>
        <p:nvSpPr>
          <p:cNvPr id="2" name="Text 0"/>
          <p:cNvSpPr/>
          <p:nvPr/>
        </p:nvSpPr>
        <p:spPr>
          <a:xfrm>
            <a:off x="502920" y="502920"/>
            <a:ext cx="6400800" cy="274320"/>
          </a:xfrm>
          <a:prstGeom prst="rect">
            <a:avLst/>
          </a:prstGeom>
          <a:noFill/>
          <a:ln/>
        </p:spPr>
        <p:txBody>
          <a:bodyPr wrap="square" lIns="0" tIns="0" rIns="0" bIns="0" rtlCol="0" anchor="ctr"/>
          <a:lstStyle/>
          <a:p>
            <a:pPr indent="0" marL="0">
              <a:buNone/>
            </a:pPr>
            <a:r>
              <a:rPr lang="en-US" sz="1050" spc="400" kern="0" dirty="0">
                <a:solidFill>
                  <a:srgbClr val="B8B2A6"/>
                </a:solidFill>
                <a:latin typeface="Noto Sans Mono CJK KR" pitchFamily="34" charset="0"/>
                <a:ea typeface="Noto Sans Mono CJK KR" pitchFamily="34" charset="-122"/>
                <a:cs typeface="Noto Sans Mono CJK KR" pitchFamily="34" charset="-120"/>
              </a:rPr>
              <a:t>2026 컨설턴트 서머 부트캠프 · 머신 발표회</a:t>
            </a:r>
            <a:endParaRPr lang="en-US" sz="1050" dirty="0"/>
          </a:p>
        </p:txBody>
      </p:sp>
      <p:sp>
        <p:nvSpPr>
          <p:cNvPr id="3" name="Shape 1"/>
          <p:cNvSpPr/>
          <p:nvPr/>
        </p:nvSpPr>
        <p:spPr>
          <a:xfrm>
            <a:off x="502920" y="932688"/>
            <a:ext cx="2926080" cy="0"/>
          </a:xfrm>
          <a:prstGeom prst="line">
            <a:avLst/>
          </a:prstGeom>
          <a:noFill/>
          <a:ln w="9525">
            <a:solidFill>
              <a:srgbClr val="45413A"/>
            </a:solidFill>
            <a:prstDash val="solid"/>
          </a:ln>
        </p:spPr>
      </p:sp>
      <p:sp>
        <p:nvSpPr>
          <p:cNvPr id="4" name="Shape 2"/>
          <p:cNvSpPr/>
          <p:nvPr/>
        </p:nvSpPr>
        <p:spPr>
          <a:xfrm>
            <a:off x="502920" y="1700784"/>
            <a:ext cx="128016" cy="128016"/>
          </a:xfrm>
          <a:prstGeom prst="rect">
            <a:avLst/>
          </a:prstGeom>
          <a:solidFill>
            <a:srgbClr val="A63A22"/>
          </a:solidFill>
          <a:ln/>
        </p:spPr>
      </p:sp>
      <p:sp>
        <p:nvSpPr>
          <p:cNvPr id="5" name="Text 3"/>
          <p:cNvSpPr/>
          <p:nvPr/>
        </p:nvSpPr>
        <p:spPr>
          <a:xfrm>
            <a:off x="758952" y="1389888"/>
            <a:ext cx="7772400" cy="777240"/>
          </a:xfrm>
          <a:prstGeom prst="rect">
            <a:avLst/>
          </a:prstGeom>
          <a:noFill/>
          <a:ln/>
        </p:spPr>
        <p:txBody>
          <a:bodyPr wrap="square" lIns="0" tIns="0" rIns="0" bIns="0" rtlCol="0" anchor="ctr"/>
          <a:lstStyle/>
          <a:p>
            <a:pPr indent="0" marL="0">
              <a:buNone/>
            </a:pPr>
            <a:r>
              <a:rPr lang="en-US" sz="5000" b="1" dirty="0">
                <a:solidFill>
                  <a:srgbClr val="F5F1E8"/>
                </a:solidFill>
                <a:latin typeface="Noto Serif CJK KR" pitchFamily="34" charset="0"/>
                <a:ea typeface="Noto Serif CJK KR" pitchFamily="34" charset="-122"/>
                <a:cs typeface="Noto Serif CJK KR" pitchFamily="34" charset="-120"/>
              </a:rPr>
              <a:t>GenomicWQB</a:t>
            </a:r>
            <a:endParaRPr lang="en-US" sz="5000" dirty="0"/>
          </a:p>
        </p:txBody>
      </p:sp>
      <p:sp>
        <p:nvSpPr>
          <p:cNvPr id="6" name="Text 4"/>
          <p:cNvSpPr/>
          <p:nvPr/>
        </p:nvSpPr>
        <p:spPr>
          <a:xfrm>
            <a:off x="758952" y="2331720"/>
            <a:ext cx="7772400" cy="411480"/>
          </a:xfrm>
          <a:prstGeom prst="rect">
            <a:avLst/>
          </a:prstGeom>
          <a:noFill/>
          <a:ln/>
        </p:spPr>
        <p:txBody>
          <a:bodyPr wrap="square" lIns="0" tIns="0" rIns="0" bIns="0" rtlCol="0" anchor="ctr"/>
          <a:lstStyle/>
          <a:p>
            <a:pPr indent="0" marL="0">
              <a:buNone/>
            </a:pPr>
            <a:r>
              <a:rPr lang="en-US" sz="1700" dirty="0">
                <a:solidFill>
                  <a:srgbClr val="F5F1E8"/>
                </a:solidFill>
                <a:latin typeface="Noto Serif CJK KR" pitchFamily="34" charset="0"/>
                <a:ea typeface="Noto Serif CJK KR" pitchFamily="34" charset="-122"/>
                <a:cs typeface="Noto Serif CJK KR" pitchFamily="34" charset="-120"/>
              </a:rPr>
              <a:t>잠들지 않는 알파 연구실 — </a:t>
            </a:r>
            <a:pPr indent="0" marL="0">
              <a:buNone/>
            </a:pPr>
            <a:r>
              <a:rPr lang="en-US" sz="1700" b="1" dirty="0">
                <a:solidFill>
                  <a:srgbClr val="F5F1E8"/>
                </a:solidFill>
                <a:latin typeface="Noto Serif CJK KR" pitchFamily="34" charset="0"/>
                <a:ea typeface="Noto Serif CJK KR" pitchFamily="34" charset="-122"/>
                <a:cs typeface="Noto Serif CJK KR" pitchFamily="34" charset="-120"/>
              </a:rPr>
              <a:t>하루 358번</a:t>
            </a:r>
            <a:pPr indent="0" marL="0">
              <a:buNone/>
            </a:pPr>
            <a:r>
              <a:rPr lang="en-US" sz="1700" dirty="0">
                <a:solidFill>
                  <a:srgbClr val="F5F1E8"/>
                </a:solidFill>
                <a:latin typeface="Noto Serif CJK KR" pitchFamily="34" charset="0"/>
                <a:ea typeface="Noto Serif CJK KR" pitchFamily="34" charset="-122"/>
                <a:cs typeface="Noto Serif CJK KR" pitchFamily="34" charset="-120"/>
              </a:rPr>
              <a:t> 실험하는 자동 발굴 머신</a:t>
            </a:r>
            <a:endParaRPr lang="en-US" sz="1700" dirty="0"/>
          </a:p>
        </p:txBody>
      </p:sp>
      <p:sp>
        <p:nvSpPr>
          <p:cNvPr id="7" name="Text 5"/>
          <p:cNvSpPr/>
          <p:nvPr/>
        </p:nvSpPr>
        <p:spPr>
          <a:xfrm>
            <a:off x="758952" y="2816352"/>
            <a:ext cx="7498080" cy="320040"/>
          </a:xfrm>
          <a:prstGeom prst="rect">
            <a:avLst/>
          </a:prstGeom>
          <a:noFill/>
          <a:ln/>
        </p:spPr>
        <p:txBody>
          <a:bodyPr wrap="square" lIns="0" tIns="0" rIns="0" bIns="0" rtlCol="0" anchor="ctr"/>
          <a:lstStyle/>
          <a:p>
            <a:pPr indent="0" marL="0">
              <a:buNone/>
            </a:pPr>
            <a:r>
              <a:rPr lang="en-US" sz="1200" dirty="0">
                <a:solidFill>
                  <a:srgbClr val="B8B2A6"/>
                </a:solidFill>
                <a:latin typeface="Noto Sans CJK KR" pitchFamily="34" charset="0"/>
                <a:ea typeface="Noto Sans CJK KR" pitchFamily="34" charset="-122"/>
                <a:cs typeface="Noto Sans CJK KR" pitchFamily="34" charset="-120"/>
              </a:rPr>
              <a:t>WorldQuant BRAIN 위에서 알파의 생성·검증·제출을 사람 없이 반복합니다</a:t>
            </a:r>
            <a:endParaRPr lang="en-US" sz="1200" dirty="0"/>
          </a:p>
        </p:txBody>
      </p:sp>
      <p:sp>
        <p:nvSpPr>
          <p:cNvPr id="8" name="Shape 6"/>
          <p:cNvSpPr/>
          <p:nvPr/>
        </p:nvSpPr>
        <p:spPr>
          <a:xfrm>
            <a:off x="502920" y="4224528"/>
            <a:ext cx="8138160" cy="0"/>
          </a:xfrm>
          <a:prstGeom prst="line">
            <a:avLst/>
          </a:prstGeom>
          <a:noFill/>
          <a:ln w="9525">
            <a:solidFill>
              <a:srgbClr val="45413A"/>
            </a:solidFill>
            <a:prstDash val="solid"/>
          </a:ln>
        </p:spPr>
      </p:sp>
      <p:sp>
        <p:nvSpPr>
          <p:cNvPr id="9" name="Text 7"/>
          <p:cNvSpPr/>
          <p:nvPr/>
        </p:nvSpPr>
        <p:spPr>
          <a:xfrm>
            <a:off x="5897880" y="4334256"/>
            <a:ext cx="2743200" cy="274320"/>
          </a:xfrm>
          <a:prstGeom prst="rect">
            <a:avLst/>
          </a:prstGeom>
          <a:noFill/>
          <a:ln/>
        </p:spPr>
        <p:txBody>
          <a:bodyPr wrap="square" lIns="0" tIns="0" rIns="0" bIns="0" rtlCol="0" anchor="ctr"/>
          <a:lstStyle/>
          <a:p>
            <a:pPr algn="r" indent="0" marL="0">
              <a:buNone/>
            </a:pPr>
            <a:r>
              <a:rPr lang="en-US" sz="1050" spc="200" kern="0" dirty="0">
                <a:solidFill>
                  <a:srgbClr val="B8B2A6"/>
                </a:solidFill>
                <a:latin typeface="Noto Sans Mono CJK KR" pitchFamily="34" charset="0"/>
                <a:ea typeface="Noto Sans Mono CJK KR" pitchFamily="34" charset="-122"/>
                <a:cs typeface="Noto Sans Mono CJK KR" pitchFamily="34" charset="-120"/>
              </a:rPr>
              <a:t>김현호  ·  2026. 08.</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01 · WHY</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하루 4건 제출 한도를 채우려면,</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사람 손은 이미 늦습니다</a:t>
            </a:r>
            <a:endParaRPr lang="en-US" sz="2300" dirty="0"/>
          </a:p>
        </p:txBody>
      </p:sp>
      <p:sp>
        <p:nvSpPr>
          <p:cNvPr id="4" name="Text 2"/>
          <p:cNvSpPr/>
          <p:nvPr/>
        </p:nvSpPr>
        <p:spPr>
          <a:xfrm>
            <a:off x="502920" y="1828800"/>
            <a:ext cx="2880360" cy="2651760"/>
          </a:xfrm>
          <a:prstGeom prst="rect">
            <a:avLst/>
          </a:prstGeom>
          <a:noFill/>
          <a:ln/>
        </p:spPr>
        <p:txBody>
          <a:bodyPr wrap="square" lIns="0" tIns="0" rIns="0" bIns="0" rtlCol="0" anchor="t"/>
          <a:lstStyle/>
          <a:p>
            <a:pPr indent="0" marL="0">
              <a:lnSpc>
                <a:spcPct val="125000"/>
              </a:lnSpc>
              <a:buNone/>
            </a:pPr>
            <a:r>
              <a:rPr lang="en-US" sz="1250" dirty="0">
                <a:solidFill>
                  <a:srgbClr val="4A443A"/>
                </a:solidFill>
                <a:latin typeface="Noto Sans CJK KR" pitchFamily="34" charset="0"/>
                <a:ea typeface="Noto Sans CJK KR" pitchFamily="34" charset="-122"/>
                <a:cs typeface="Noto Sans CJK KR" pitchFamily="34" charset="-120"/>
              </a:rPr>
              <a:t>컨설턴트 알파 제출은 하루 최대 4건입니다.
</a:t>
            </a:r>
            <a:pPr indent="0" marL="0">
              <a:lnSpc>
                <a:spcPct val="125000"/>
              </a:lnSpc>
              <a:buNone/>
            </a:pPr>
            <a:r>
              <a:rPr lang="en-US" sz="600" dirty="0">
                <a:solidFill>
                  <a:srgbClr val="4A443A"/>
                </a:solidFill>
                <a:latin typeface="Noto Sans CJK KR" pitchFamily="34" charset="0"/>
                <a:ea typeface="Noto Sans CJK KR" pitchFamily="34" charset="-122"/>
                <a:cs typeface="Noto Sans CJK KR" pitchFamily="34" charset="-120"/>
              </a:rPr>
              <a:t>
</a:t>
            </a:r>
            <a:pPr indent="0" marL="0">
              <a:lnSpc>
                <a:spcPct val="125000"/>
              </a:lnSpc>
              <a:buNone/>
            </a:pPr>
            <a:r>
              <a:rPr lang="en-US" sz="1250" dirty="0">
                <a:solidFill>
                  <a:srgbClr val="4A443A"/>
                </a:solidFill>
                <a:latin typeface="Noto Sans CJK KR" pitchFamily="34" charset="0"/>
                <a:ea typeface="Noto Sans CJK KR" pitchFamily="34" charset="-122"/>
                <a:cs typeface="Noto Sans CJK KR" pitchFamily="34" charset="-120"/>
              </a:rPr>
              <a:t>그런데 후보를 고르는 탐색 공간은 데이터필드 × 세팅 × 연산 템플릿의 곱으로 폭발합니다.
</a:t>
            </a:r>
            <a:pPr indent="0" marL="0">
              <a:lnSpc>
                <a:spcPct val="125000"/>
              </a:lnSpc>
              <a:buNone/>
            </a:pPr>
            <a:r>
              <a:rPr lang="en-US" sz="600" dirty="0">
                <a:solidFill>
                  <a:srgbClr val="4A443A"/>
                </a:solidFill>
                <a:latin typeface="Noto Sans CJK KR" pitchFamily="34" charset="0"/>
                <a:ea typeface="Noto Sans CJK KR" pitchFamily="34" charset="-122"/>
                <a:cs typeface="Noto Sans CJK KR" pitchFamily="34" charset="-120"/>
              </a:rPr>
              <a:t>
</a:t>
            </a:r>
            <a:pPr indent="0" marL="0">
              <a:lnSpc>
                <a:spcPct val="125000"/>
              </a:lnSpc>
              <a:buNone/>
            </a:pPr>
            <a:r>
              <a:rPr lang="en-US" sz="1250" b="1" dirty="0">
                <a:solidFill>
                  <a:srgbClr val="4A443A"/>
                </a:solidFill>
                <a:latin typeface="Noto Sans CJK KR" pitchFamily="34" charset="0"/>
                <a:ea typeface="Noto Sans CJK KR" pitchFamily="34" charset="-122"/>
                <a:cs typeface="Noto Sans CJK KR" pitchFamily="34" charset="-120"/>
              </a:rPr>
              <a:t>손으로 고르면 하루가 모자라고, 기계로 고르면 잠든 사이에도 돌아갑니다.</a:t>
            </a:r>
            <a:endParaRPr lang="en-US" sz="1250" dirty="0"/>
          </a:p>
        </p:txBody>
      </p:sp>
      <p:sp>
        <p:nvSpPr>
          <p:cNvPr id="5" name="Shape 3"/>
          <p:cNvSpPr/>
          <p:nvPr/>
        </p:nvSpPr>
        <p:spPr>
          <a:xfrm>
            <a:off x="3886200" y="1874520"/>
            <a:ext cx="4754880" cy="0"/>
          </a:xfrm>
          <a:prstGeom prst="line">
            <a:avLst/>
          </a:prstGeom>
          <a:noFill/>
          <a:ln w="9525">
            <a:solidFill>
              <a:srgbClr val="CFCBC1"/>
            </a:solidFill>
            <a:prstDash val="solid"/>
          </a:ln>
        </p:spPr>
      </p:sp>
      <p:sp>
        <p:nvSpPr>
          <p:cNvPr id="6" name="Text 4"/>
          <p:cNvSpPr/>
          <p:nvPr/>
        </p:nvSpPr>
        <p:spPr>
          <a:xfrm>
            <a:off x="3886200" y="1993392"/>
            <a:ext cx="4754880" cy="274320"/>
          </a:xfrm>
          <a:prstGeom prst="rect">
            <a:avLst/>
          </a:prstGeom>
          <a:noFill/>
          <a:ln/>
        </p:spPr>
        <p:txBody>
          <a:bodyPr wrap="square" lIns="0" tIns="0" rIns="0" bIns="0" rtlCol="0" anchor="ctr"/>
          <a:lstStyle/>
          <a:p>
            <a:pPr indent="0" marL="0">
              <a:buNone/>
            </a:pPr>
            <a:r>
              <a:rPr lang="en-US" sz="1150" spc="100" kern="0" dirty="0">
                <a:solidFill>
                  <a:srgbClr val="4A443A"/>
                </a:solidFill>
                <a:latin typeface="Noto Sans Mono CJK KR" pitchFamily="34" charset="0"/>
                <a:ea typeface="Noto Sans Mono CJK KR" pitchFamily="34" charset="-122"/>
                <a:cs typeface="Noto Sans Mono CJK KR" pitchFamily="34" charset="-120"/>
              </a:rPr>
              <a:t>데이터필드 100  ×  중립화 9  ×  템플릿 5</a:t>
            </a:r>
            <a:endParaRPr lang="en-US" sz="1150" dirty="0"/>
          </a:p>
        </p:txBody>
      </p:sp>
      <p:sp>
        <p:nvSpPr>
          <p:cNvPr id="7" name="Text 5"/>
          <p:cNvSpPr/>
          <p:nvPr/>
        </p:nvSpPr>
        <p:spPr>
          <a:xfrm>
            <a:off x="3886200" y="2286000"/>
            <a:ext cx="4754880" cy="731520"/>
          </a:xfrm>
          <a:prstGeom prst="rect">
            <a:avLst/>
          </a:prstGeom>
          <a:noFill/>
          <a:ln/>
        </p:spPr>
        <p:txBody>
          <a:bodyPr wrap="square" lIns="0" tIns="0" rIns="0" bIns="0" rtlCol="0" anchor="ctr"/>
          <a:lstStyle/>
          <a:p>
            <a:pPr indent="0" marL="0">
              <a:buNone/>
            </a:pPr>
            <a:r>
              <a:rPr lang="en-US" sz="4400" b="1" dirty="0">
                <a:solidFill>
                  <a:srgbClr val="1C1914"/>
                </a:solidFill>
                <a:latin typeface="Noto Serif CJK KR" pitchFamily="34" charset="0"/>
                <a:ea typeface="Noto Serif CJK KR" pitchFamily="34" charset="-122"/>
                <a:cs typeface="Noto Serif CJK KR" pitchFamily="34" charset="-120"/>
              </a:rPr>
              <a:t>4,500</a:t>
            </a:r>
            <a:pPr indent="0" marL="0">
              <a:buNone/>
            </a:pPr>
            <a:r>
              <a:rPr lang="en-US" sz="1300" dirty="0">
                <a:solidFill>
                  <a:srgbClr val="6E675A"/>
                </a:solidFill>
                <a:latin typeface="Noto Sans CJK KR" pitchFamily="34" charset="0"/>
                <a:ea typeface="Noto Sans CJK KR" pitchFamily="34" charset="-122"/>
                <a:cs typeface="Noto Sans CJK KR" pitchFamily="34" charset="-120"/>
              </a:rPr>
              <a:t>  회 시뮬레이션</a:t>
            </a:r>
            <a:endParaRPr lang="en-US" sz="4400" dirty="0"/>
          </a:p>
        </p:txBody>
      </p:sp>
      <p:sp>
        <p:nvSpPr>
          <p:cNvPr id="8" name="Shape 6"/>
          <p:cNvSpPr/>
          <p:nvPr/>
        </p:nvSpPr>
        <p:spPr>
          <a:xfrm>
            <a:off x="3886200" y="3200400"/>
            <a:ext cx="4754880" cy="0"/>
          </a:xfrm>
          <a:prstGeom prst="line">
            <a:avLst/>
          </a:prstGeom>
          <a:noFill/>
          <a:ln w="9525">
            <a:solidFill>
              <a:srgbClr val="CFCBC1"/>
            </a:solidFill>
            <a:prstDash val="solid"/>
          </a:ln>
        </p:spPr>
      </p:sp>
      <p:sp>
        <p:nvSpPr>
          <p:cNvPr id="9" name="Text 7"/>
          <p:cNvSpPr/>
          <p:nvPr/>
        </p:nvSpPr>
        <p:spPr>
          <a:xfrm>
            <a:off x="3886200" y="3319272"/>
            <a:ext cx="4754880" cy="274320"/>
          </a:xfrm>
          <a:prstGeom prst="rect">
            <a:avLst/>
          </a:prstGeom>
          <a:noFill/>
          <a:ln/>
        </p:spPr>
        <p:txBody>
          <a:bodyPr wrap="square" lIns="0" tIns="0" rIns="0" bIns="0" rtlCol="0" anchor="ctr"/>
          <a:lstStyle/>
          <a:p>
            <a:pPr indent="0" marL="0">
              <a:buNone/>
            </a:pPr>
            <a:r>
              <a:rPr lang="en-US" sz="1150" spc="100" kern="0" dirty="0">
                <a:solidFill>
                  <a:srgbClr val="4A443A"/>
                </a:solidFill>
                <a:latin typeface="Noto Sans Mono CJK KR" pitchFamily="34" charset="0"/>
                <a:ea typeface="Noto Sans Mono CJK KR" pitchFamily="34" charset="-122"/>
                <a:cs typeface="Noto Sans Mono CJK KR" pitchFamily="34" charset="-120"/>
              </a:rPr>
              <a:t>+ 트레이드 옵션 · 결측치 처리까지 넣으면</a:t>
            </a:r>
            <a:endParaRPr lang="en-US" sz="1150" dirty="0"/>
          </a:p>
        </p:txBody>
      </p:sp>
      <p:sp>
        <p:nvSpPr>
          <p:cNvPr id="10" name="Text 8"/>
          <p:cNvSpPr/>
          <p:nvPr/>
        </p:nvSpPr>
        <p:spPr>
          <a:xfrm>
            <a:off x="3886200" y="3611880"/>
            <a:ext cx="4754880" cy="731520"/>
          </a:xfrm>
          <a:prstGeom prst="rect">
            <a:avLst/>
          </a:prstGeom>
          <a:noFill/>
          <a:ln/>
        </p:spPr>
        <p:txBody>
          <a:bodyPr wrap="square" lIns="0" tIns="0" rIns="0" bIns="0" rtlCol="0" anchor="ctr"/>
          <a:lstStyle/>
          <a:p>
            <a:pPr indent="0" marL="0">
              <a:buNone/>
            </a:pPr>
            <a:r>
              <a:rPr lang="en-US" sz="4400" b="1" dirty="0">
                <a:solidFill>
                  <a:srgbClr val="A63A22"/>
                </a:solidFill>
                <a:latin typeface="Noto Serif CJK KR" pitchFamily="34" charset="0"/>
                <a:ea typeface="Noto Serif CJK KR" pitchFamily="34" charset="-122"/>
                <a:cs typeface="Noto Serif CJK KR" pitchFamily="34" charset="-120"/>
              </a:rPr>
              <a:t>18,000</a:t>
            </a:r>
            <a:pPr indent="0" marL="0">
              <a:buNone/>
            </a:pPr>
            <a:r>
              <a:rPr lang="en-US" sz="1300" dirty="0">
                <a:solidFill>
                  <a:srgbClr val="6E675A"/>
                </a:solidFill>
                <a:latin typeface="Noto Sans CJK KR" pitchFamily="34" charset="0"/>
                <a:ea typeface="Noto Sans CJK KR" pitchFamily="34" charset="-122"/>
                <a:cs typeface="Noto Sans CJK KR" pitchFamily="34" charset="-120"/>
              </a:rPr>
              <a:t>  회로 기하급수 증가</a:t>
            </a:r>
            <a:endParaRPr lang="en-US" sz="4400" dirty="0"/>
          </a:p>
        </p:txBody>
      </p:sp>
      <p:sp>
        <p:nvSpPr>
          <p:cNvPr id="11" name="Text 9"/>
          <p:cNvSpPr/>
          <p:nvPr/>
        </p:nvSpPr>
        <p:spPr>
          <a:xfrm>
            <a:off x="3886200" y="4297680"/>
            <a:ext cx="4754880" cy="228600"/>
          </a:xfrm>
          <a:prstGeom prst="rect">
            <a:avLst/>
          </a:prstGeom>
          <a:noFill/>
          <a:ln/>
        </p:spPr>
        <p:txBody>
          <a:bodyPr wrap="square" lIns="0" tIns="0" rIns="0" bIns="0" rtlCol="0" anchor="ctr"/>
          <a:lstStyle/>
          <a:p>
            <a:pPr indent="0" marL="0">
              <a:buNone/>
            </a:pPr>
            <a:r>
              <a:rPr lang="en-US" sz="900" i="1" dirty="0">
                <a:solidFill>
                  <a:srgbClr val="6E675A"/>
                </a:solidFill>
                <a:latin typeface="Noto Sans CJK KR" pitchFamily="34" charset="0"/>
                <a:ea typeface="Noto Sans CJK KR" pitchFamily="34" charset="-122"/>
                <a:cs typeface="Noto Sans CJK KR" pitchFamily="34" charset="-120"/>
              </a:rPr>
              <a:t>* 부트캠프 2주차 강의의 서치스페이스 예시 수치입니다</a:t>
            </a:r>
            <a:endParaRPr lang="en-US" sz="900" dirty="0"/>
          </a:p>
        </p:txBody>
      </p:sp>
      <p:sp>
        <p:nvSpPr>
          <p:cNvPr id="12" name="Shape 10"/>
          <p:cNvSpPr/>
          <p:nvPr/>
        </p:nvSpPr>
        <p:spPr>
          <a:xfrm>
            <a:off x="502920" y="4828032"/>
            <a:ext cx="8138160" cy="0"/>
          </a:xfrm>
          <a:prstGeom prst="line">
            <a:avLst/>
          </a:prstGeom>
          <a:noFill/>
          <a:ln w="9525">
            <a:solidFill>
              <a:srgbClr val="CFCBC1"/>
            </a:solidFill>
            <a:prstDash val="solid"/>
          </a:ln>
        </p:spPr>
      </p:sp>
      <p:sp>
        <p:nvSpPr>
          <p:cNvPr id="13" name="Text 11"/>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14" name="Text 12"/>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02 · MACHINE</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라운드마다 '생성 → 검문 → 시뮬 → 복기'를</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완전 자동으로 돌립니다</a:t>
            </a:r>
            <a:endParaRPr lang="en-US" sz="2300" dirty="0"/>
          </a:p>
        </p:txBody>
      </p:sp>
      <p:sp>
        <p:nvSpPr>
          <p:cNvPr id="4" name="Shape 2"/>
          <p:cNvSpPr/>
          <p:nvPr/>
        </p:nvSpPr>
        <p:spPr>
          <a:xfrm>
            <a:off x="502920" y="1965960"/>
            <a:ext cx="1481328" cy="1417320"/>
          </a:xfrm>
          <a:prstGeom prst="rect">
            <a:avLst/>
          </a:prstGeom>
          <a:solidFill>
            <a:srgbClr val="EDE8DB"/>
          </a:solidFill>
          <a:ln w="9525">
            <a:solidFill>
              <a:srgbClr val="CFCBC1"/>
            </a:solidFill>
            <a:prstDash val="solid"/>
          </a:ln>
        </p:spPr>
      </p:sp>
      <p:sp>
        <p:nvSpPr>
          <p:cNvPr id="5" name="Text 3"/>
          <p:cNvSpPr/>
          <p:nvPr/>
        </p:nvSpPr>
        <p:spPr>
          <a:xfrm>
            <a:off x="585216" y="2057400"/>
            <a:ext cx="1316736" cy="274320"/>
          </a:xfrm>
          <a:prstGeom prst="rect">
            <a:avLst/>
          </a:prstGeom>
          <a:noFill/>
          <a:ln/>
        </p:spPr>
        <p:txBody>
          <a:bodyPr wrap="square" lIns="0" tIns="0" rIns="0" bIns="0" rtlCol="0" anchor="ctr"/>
          <a:lstStyle/>
          <a:p>
            <a:pPr indent="0" marL="0">
              <a:buNone/>
            </a:pPr>
            <a:r>
              <a:rPr lang="en-US" sz="1150" b="1" dirty="0">
                <a:solidFill>
                  <a:srgbClr val="1C1914"/>
                </a:solidFill>
                <a:latin typeface="Noto Serif CJK KR" pitchFamily="34" charset="0"/>
                <a:ea typeface="Noto Serif CJK KR" pitchFamily="34" charset="-122"/>
                <a:cs typeface="Noto Serif CJK KR" pitchFamily="34" charset="-120"/>
              </a:rPr>
              <a:t>①  아이디어 생성</a:t>
            </a:r>
            <a:endParaRPr lang="en-US" sz="1150" dirty="0"/>
          </a:p>
        </p:txBody>
      </p:sp>
      <p:sp>
        <p:nvSpPr>
          <p:cNvPr id="6" name="Text 4"/>
          <p:cNvSpPr/>
          <p:nvPr/>
        </p:nvSpPr>
        <p:spPr>
          <a:xfrm>
            <a:off x="585216" y="2368296"/>
            <a:ext cx="1316736" cy="960120"/>
          </a:xfrm>
          <a:prstGeom prst="rect">
            <a:avLst/>
          </a:prstGeom>
          <a:noFill/>
          <a:ln/>
        </p:spPr>
        <p:txBody>
          <a:bodyPr wrap="square" lIns="0" tIns="0" rIns="0" bIns="0" rtlCol="0" anchor="t"/>
          <a:lstStyle/>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유전체 GA + LLM 위원회가</a:t>
            </a:r>
            <a:endParaRPr lang="en-US" sz="880" dirty="0"/>
          </a:p>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후보 8~40개를 설계합니다</a:t>
            </a:r>
            <a:endParaRPr lang="en-US" sz="880" dirty="0"/>
          </a:p>
        </p:txBody>
      </p:sp>
      <p:sp>
        <p:nvSpPr>
          <p:cNvPr id="7" name="Text 5"/>
          <p:cNvSpPr/>
          <p:nvPr/>
        </p:nvSpPr>
        <p:spPr>
          <a:xfrm>
            <a:off x="1933956" y="2528316"/>
            <a:ext cx="274320" cy="274320"/>
          </a:xfrm>
          <a:prstGeom prst="rect">
            <a:avLst/>
          </a:prstGeom>
          <a:noFill/>
          <a:ln/>
        </p:spPr>
        <p:txBody>
          <a:bodyPr wrap="square" lIns="0" tIns="0" rIns="0" bIns="0" rtlCol="0" anchor="ctr"/>
          <a:lstStyle/>
          <a:p>
            <a:pPr algn="ctr" indent="0" marL="0">
              <a:buNone/>
            </a:pPr>
            <a:r>
              <a:rPr lang="en-US" sz="1300" dirty="0">
                <a:solidFill>
                  <a:srgbClr val="6E675A"/>
                </a:solidFill>
                <a:latin typeface="Noto Sans Mono CJK KR" pitchFamily="34" charset="0"/>
                <a:ea typeface="Noto Sans Mono CJK KR" pitchFamily="34" charset="-122"/>
                <a:cs typeface="Noto Sans Mono CJK KR" pitchFamily="34" charset="-120"/>
              </a:rPr>
              <a:t>→</a:t>
            </a:r>
            <a:endParaRPr lang="en-US" sz="1300" dirty="0"/>
          </a:p>
        </p:txBody>
      </p:sp>
      <p:sp>
        <p:nvSpPr>
          <p:cNvPr id="8" name="Shape 6"/>
          <p:cNvSpPr/>
          <p:nvPr/>
        </p:nvSpPr>
        <p:spPr>
          <a:xfrm>
            <a:off x="2157984" y="1965960"/>
            <a:ext cx="1481328" cy="1417320"/>
          </a:xfrm>
          <a:prstGeom prst="rect">
            <a:avLst/>
          </a:prstGeom>
          <a:solidFill>
            <a:srgbClr val="EDE8DB"/>
          </a:solidFill>
          <a:ln w="9525">
            <a:solidFill>
              <a:srgbClr val="CFCBC1"/>
            </a:solidFill>
            <a:prstDash val="solid"/>
          </a:ln>
        </p:spPr>
      </p:sp>
      <p:sp>
        <p:nvSpPr>
          <p:cNvPr id="9" name="Text 7"/>
          <p:cNvSpPr/>
          <p:nvPr/>
        </p:nvSpPr>
        <p:spPr>
          <a:xfrm>
            <a:off x="2240280" y="2057400"/>
            <a:ext cx="1316736" cy="274320"/>
          </a:xfrm>
          <a:prstGeom prst="rect">
            <a:avLst/>
          </a:prstGeom>
          <a:noFill/>
          <a:ln/>
        </p:spPr>
        <p:txBody>
          <a:bodyPr wrap="square" lIns="0" tIns="0" rIns="0" bIns="0" rtlCol="0" anchor="ctr"/>
          <a:lstStyle/>
          <a:p>
            <a:pPr indent="0" marL="0">
              <a:buNone/>
            </a:pPr>
            <a:r>
              <a:rPr lang="en-US" sz="1150" b="1" dirty="0">
                <a:solidFill>
                  <a:srgbClr val="1C1914"/>
                </a:solidFill>
                <a:latin typeface="Noto Serif CJK KR" pitchFamily="34" charset="0"/>
                <a:ea typeface="Noto Serif CJK KR" pitchFamily="34" charset="-122"/>
                <a:cs typeface="Noto Serif CJK KR" pitchFamily="34" charset="-120"/>
              </a:rPr>
              <a:t>②  사전 검문</a:t>
            </a:r>
            <a:endParaRPr lang="en-US" sz="1150" dirty="0"/>
          </a:p>
        </p:txBody>
      </p:sp>
      <p:sp>
        <p:nvSpPr>
          <p:cNvPr id="10" name="Text 8"/>
          <p:cNvSpPr/>
          <p:nvPr/>
        </p:nvSpPr>
        <p:spPr>
          <a:xfrm>
            <a:off x="2240280" y="2368296"/>
            <a:ext cx="1316736" cy="960120"/>
          </a:xfrm>
          <a:prstGeom prst="rect">
            <a:avLst/>
          </a:prstGeom>
          <a:noFill/>
          <a:ln/>
        </p:spPr>
        <p:txBody>
          <a:bodyPr wrap="square" lIns="0" tIns="0" rIns="0" bIns="0" rtlCol="0" anchor="t"/>
          <a:lstStyle/>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문법·필드·중복·테마</a:t>
            </a:r>
            <a:endParaRPr lang="en-US" sz="880" dirty="0"/>
          </a:p>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조건을 시뮬 전에</a:t>
            </a:r>
            <a:endParaRPr lang="en-US" sz="880" dirty="0"/>
          </a:p>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걸러냅니다</a:t>
            </a:r>
            <a:endParaRPr lang="en-US" sz="880" dirty="0"/>
          </a:p>
        </p:txBody>
      </p:sp>
      <p:sp>
        <p:nvSpPr>
          <p:cNvPr id="11" name="Text 9"/>
          <p:cNvSpPr/>
          <p:nvPr/>
        </p:nvSpPr>
        <p:spPr>
          <a:xfrm>
            <a:off x="3589020" y="2528316"/>
            <a:ext cx="274320" cy="274320"/>
          </a:xfrm>
          <a:prstGeom prst="rect">
            <a:avLst/>
          </a:prstGeom>
          <a:noFill/>
          <a:ln/>
        </p:spPr>
        <p:txBody>
          <a:bodyPr wrap="square" lIns="0" tIns="0" rIns="0" bIns="0" rtlCol="0" anchor="ctr"/>
          <a:lstStyle/>
          <a:p>
            <a:pPr algn="ctr" indent="0" marL="0">
              <a:buNone/>
            </a:pPr>
            <a:r>
              <a:rPr lang="en-US" sz="1300" dirty="0">
                <a:solidFill>
                  <a:srgbClr val="6E675A"/>
                </a:solidFill>
                <a:latin typeface="Noto Sans Mono CJK KR" pitchFamily="34" charset="0"/>
                <a:ea typeface="Noto Sans Mono CJK KR" pitchFamily="34" charset="-122"/>
                <a:cs typeface="Noto Sans Mono CJK KR" pitchFamily="34" charset="-120"/>
              </a:rPr>
              <a:t>→</a:t>
            </a:r>
            <a:endParaRPr lang="en-US" sz="1300" dirty="0"/>
          </a:p>
        </p:txBody>
      </p:sp>
      <p:sp>
        <p:nvSpPr>
          <p:cNvPr id="12" name="Shape 10"/>
          <p:cNvSpPr/>
          <p:nvPr/>
        </p:nvSpPr>
        <p:spPr>
          <a:xfrm>
            <a:off x="3813048" y="1965960"/>
            <a:ext cx="1481328" cy="1417320"/>
          </a:xfrm>
          <a:prstGeom prst="rect">
            <a:avLst/>
          </a:prstGeom>
          <a:solidFill>
            <a:srgbClr val="EDE8DB"/>
          </a:solidFill>
          <a:ln w="9525">
            <a:solidFill>
              <a:srgbClr val="CFCBC1"/>
            </a:solidFill>
            <a:prstDash val="solid"/>
          </a:ln>
        </p:spPr>
      </p:sp>
      <p:sp>
        <p:nvSpPr>
          <p:cNvPr id="13" name="Text 11"/>
          <p:cNvSpPr/>
          <p:nvPr/>
        </p:nvSpPr>
        <p:spPr>
          <a:xfrm>
            <a:off x="3895344" y="2057400"/>
            <a:ext cx="1316736" cy="274320"/>
          </a:xfrm>
          <a:prstGeom prst="rect">
            <a:avLst/>
          </a:prstGeom>
          <a:noFill/>
          <a:ln/>
        </p:spPr>
        <p:txBody>
          <a:bodyPr wrap="square" lIns="0" tIns="0" rIns="0" bIns="0" rtlCol="0" anchor="ctr"/>
          <a:lstStyle/>
          <a:p>
            <a:pPr indent="0" marL="0">
              <a:buNone/>
            </a:pPr>
            <a:r>
              <a:rPr lang="en-US" sz="1150" b="1" dirty="0">
                <a:solidFill>
                  <a:srgbClr val="1C1914"/>
                </a:solidFill>
                <a:latin typeface="Noto Serif CJK KR" pitchFamily="34" charset="0"/>
                <a:ea typeface="Noto Serif CJK KR" pitchFamily="34" charset="-122"/>
                <a:cs typeface="Noto Serif CJK KR" pitchFamily="34" charset="-120"/>
              </a:rPr>
              <a:t>③  시뮬레이션</a:t>
            </a:r>
            <a:endParaRPr lang="en-US" sz="1150" dirty="0"/>
          </a:p>
        </p:txBody>
      </p:sp>
      <p:sp>
        <p:nvSpPr>
          <p:cNvPr id="14" name="Text 12"/>
          <p:cNvSpPr/>
          <p:nvPr/>
        </p:nvSpPr>
        <p:spPr>
          <a:xfrm>
            <a:off x="3895344" y="2368296"/>
            <a:ext cx="1316736" cy="960120"/>
          </a:xfrm>
          <a:prstGeom prst="rect">
            <a:avLst/>
          </a:prstGeom>
          <a:noFill/>
          <a:ln/>
        </p:spPr>
        <p:txBody>
          <a:bodyPr wrap="square" lIns="0" tIns="0" rIns="0" bIns="0" rtlCol="0" anchor="t"/>
          <a:lstStyle/>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BRAIN REST API로</a:t>
            </a:r>
            <a:endParaRPr lang="en-US" sz="880" dirty="0"/>
          </a:p>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8개 슬롯을 동시에</a:t>
            </a:r>
            <a:endParaRPr lang="en-US" sz="880" dirty="0"/>
          </a:p>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돌립니다</a:t>
            </a:r>
            <a:endParaRPr lang="en-US" sz="880" dirty="0"/>
          </a:p>
        </p:txBody>
      </p:sp>
      <p:sp>
        <p:nvSpPr>
          <p:cNvPr id="15" name="Text 13"/>
          <p:cNvSpPr/>
          <p:nvPr/>
        </p:nvSpPr>
        <p:spPr>
          <a:xfrm>
            <a:off x="5244084" y="2528316"/>
            <a:ext cx="274320" cy="274320"/>
          </a:xfrm>
          <a:prstGeom prst="rect">
            <a:avLst/>
          </a:prstGeom>
          <a:noFill/>
          <a:ln/>
        </p:spPr>
        <p:txBody>
          <a:bodyPr wrap="square" lIns="0" tIns="0" rIns="0" bIns="0" rtlCol="0" anchor="ctr"/>
          <a:lstStyle/>
          <a:p>
            <a:pPr algn="ctr" indent="0" marL="0">
              <a:buNone/>
            </a:pPr>
            <a:r>
              <a:rPr lang="en-US" sz="1300" dirty="0">
                <a:solidFill>
                  <a:srgbClr val="6E675A"/>
                </a:solidFill>
                <a:latin typeface="Noto Sans Mono CJK KR" pitchFamily="34" charset="0"/>
                <a:ea typeface="Noto Sans Mono CJK KR" pitchFamily="34" charset="-122"/>
                <a:cs typeface="Noto Sans Mono CJK KR" pitchFamily="34" charset="-120"/>
              </a:rPr>
              <a:t>→</a:t>
            </a:r>
            <a:endParaRPr lang="en-US" sz="1300" dirty="0"/>
          </a:p>
        </p:txBody>
      </p:sp>
      <p:sp>
        <p:nvSpPr>
          <p:cNvPr id="16" name="Shape 14"/>
          <p:cNvSpPr/>
          <p:nvPr/>
        </p:nvSpPr>
        <p:spPr>
          <a:xfrm>
            <a:off x="5468112" y="1965960"/>
            <a:ext cx="1481328" cy="1417320"/>
          </a:xfrm>
          <a:prstGeom prst="rect">
            <a:avLst/>
          </a:prstGeom>
          <a:solidFill>
            <a:srgbClr val="EDE8DB"/>
          </a:solidFill>
          <a:ln w="9525">
            <a:solidFill>
              <a:srgbClr val="CFCBC1"/>
            </a:solidFill>
            <a:prstDash val="solid"/>
          </a:ln>
        </p:spPr>
      </p:sp>
      <p:sp>
        <p:nvSpPr>
          <p:cNvPr id="17" name="Text 15"/>
          <p:cNvSpPr/>
          <p:nvPr/>
        </p:nvSpPr>
        <p:spPr>
          <a:xfrm>
            <a:off x="5550408" y="2057400"/>
            <a:ext cx="1316736" cy="274320"/>
          </a:xfrm>
          <a:prstGeom prst="rect">
            <a:avLst/>
          </a:prstGeom>
          <a:noFill/>
          <a:ln/>
        </p:spPr>
        <p:txBody>
          <a:bodyPr wrap="square" lIns="0" tIns="0" rIns="0" bIns="0" rtlCol="0" anchor="ctr"/>
          <a:lstStyle/>
          <a:p>
            <a:pPr indent="0" marL="0">
              <a:buNone/>
            </a:pPr>
            <a:r>
              <a:rPr lang="en-US" sz="1150" b="1" dirty="0">
                <a:solidFill>
                  <a:srgbClr val="1C1914"/>
                </a:solidFill>
                <a:latin typeface="Noto Serif CJK KR" pitchFamily="34" charset="0"/>
                <a:ea typeface="Noto Serif CJK KR" pitchFamily="34" charset="-122"/>
                <a:cs typeface="Noto Serif CJK KR" pitchFamily="34" charset="-120"/>
              </a:rPr>
              <a:t>④  채점 · 복기</a:t>
            </a:r>
            <a:endParaRPr lang="en-US" sz="1150" dirty="0"/>
          </a:p>
        </p:txBody>
      </p:sp>
      <p:sp>
        <p:nvSpPr>
          <p:cNvPr id="18" name="Text 16"/>
          <p:cNvSpPr/>
          <p:nvPr/>
        </p:nvSpPr>
        <p:spPr>
          <a:xfrm>
            <a:off x="5550408" y="2368296"/>
            <a:ext cx="1316736" cy="960120"/>
          </a:xfrm>
          <a:prstGeom prst="rect">
            <a:avLst/>
          </a:prstGeom>
          <a:noFill/>
          <a:ln/>
        </p:spPr>
        <p:txBody>
          <a:bodyPr wrap="square" lIns="0" tIns="0" rIns="0" bIns="0" rtlCol="0" anchor="t"/>
          <a:lstStyle/>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11개 체크 통과 여부와</a:t>
            </a:r>
            <a:endParaRPr lang="en-US" sz="880" dirty="0"/>
          </a:p>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실패 원인을 기록합니다</a:t>
            </a:r>
            <a:endParaRPr lang="en-US" sz="880" dirty="0"/>
          </a:p>
        </p:txBody>
      </p:sp>
      <p:sp>
        <p:nvSpPr>
          <p:cNvPr id="19" name="Text 17"/>
          <p:cNvSpPr/>
          <p:nvPr/>
        </p:nvSpPr>
        <p:spPr>
          <a:xfrm>
            <a:off x="6899148" y="2528316"/>
            <a:ext cx="274320" cy="274320"/>
          </a:xfrm>
          <a:prstGeom prst="rect">
            <a:avLst/>
          </a:prstGeom>
          <a:noFill/>
          <a:ln/>
        </p:spPr>
        <p:txBody>
          <a:bodyPr wrap="square" lIns="0" tIns="0" rIns="0" bIns="0" rtlCol="0" anchor="ctr"/>
          <a:lstStyle/>
          <a:p>
            <a:pPr algn="ctr" indent="0" marL="0">
              <a:buNone/>
            </a:pPr>
            <a:r>
              <a:rPr lang="en-US" sz="1300" dirty="0">
                <a:solidFill>
                  <a:srgbClr val="6E675A"/>
                </a:solidFill>
                <a:latin typeface="Noto Sans Mono CJK KR" pitchFamily="34" charset="0"/>
                <a:ea typeface="Noto Sans Mono CJK KR" pitchFamily="34" charset="-122"/>
                <a:cs typeface="Noto Sans Mono CJK KR" pitchFamily="34" charset="-120"/>
              </a:rPr>
              <a:t>→</a:t>
            </a:r>
            <a:endParaRPr lang="en-US" sz="1300" dirty="0"/>
          </a:p>
        </p:txBody>
      </p:sp>
      <p:sp>
        <p:nvSpPr>
          <p:cNvPr id="20" name="Shape 18"/>
          <p:cNvSpPr/>
          <p:nvPr/>
        </p:nvSpPr>
        <p:spPr>
          <a:xfrm>
            <a:off x="7123176" y="1965960"/>
            <a:ext cx="1481328" cy="1417320"/>
          </a:xfrm>
          <a:prstGeom prst="rect">
            <a:avLst/>
          </a:prstGeom>
          <a:solidFill>
            <a:srgbClr val="EDE8DB"/>
          </a:solidFill>
          <a:ln w="9525">
            <a:solidFill>
              <a:srgbClr val="CFCBC1"/>
            </a:solidFill>
            <a:prstDash val="solid"/>
          </a:ln>
        </p:spPr>
      </p:sp>
      <p:sp>
        <p:nvSpPr>
          <p:cNvPr id="21" name="Text 19"/>
          <p:cNvSpPr/>
          <p:nvPr/>
        </p:nvSpPr>
        <p:spPr>
          <a:xfrm>
            <a:off x="7205472" y="2057400"/>
            <a:ext cx="1316736" cy="274320"/>
          </a:xfrm>
          <a:prstGeom prst="rect">
            <a:avLst/>
          </a:prstGeom>
          <a:noFill/>
          <a:ln/>
        </p:spPr>
        <p:txBody>
          <a:bodyPr wrap="square" lIns="0" tIns="0" rIns="0" bIns="0" rtlCol="0" anchor="ctr"/>
          <a:lstStyle/>
          <a:p>
            <a:pPr indent="0" marL="0">
              <a:buNone/>
            </a:pPr>
            <a:r>
              <a:rPr lang="en-US" sz="1150" b="1" dirty="0">
                <a:solidFill>
                  <a:srgbClr val="1C1914"/>
                </a:solidFill>
                <a:latin typeface="Noto Serif CJK KR" pitchFamily="34" charset="0"/>
                <a:ea typeface="Noto Serif CJK KR" pitchFamily="34" charset="-122"/>
                <a:cs typeface="Noto Serif CJK KR" pitchFamily="34" charset="-120"/>
              </a:rPr>
              <a:t>⑤  다음 세대</a:t>
            </a:r>
            <a:endParaRPr lang="en-US" sz="1150" dirty="0"/>
          </a:p>
        </p:txBody>
      </p:sp>
      <p:sp>
        <p:nvSpPr>
          <p:cNvPr id="22" name="Text 20"/>
          <p:cNvSpPr/>
          <p:nvPr/>
        </p:nvSpPr>
        <p:spPr>
          <a:xfrm>
            <a:off x="7205472" y="2368296"/>
            <a:ext cx="1316736" cy="960120"/>
          </a:xfrm>
          <a:prstGeom prst="rect">
            <a:avLst/>
          </a:prstGeom>
          <a:noFill/>
          <a:ln/>
        </p:spPr>
        <p:txBody>
          <a:bodyPr wrap="square" lIns="0" tIns="0" rIns="0" bIns="0" rtlCol="0" anchor="t"/>
          <a:lstStyle/>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엘리트는 시드로, 성과는</a:t>
            </a:r>
            <a:endParaRPr lang="en-US" sz="880" dirty="0"/>
          </a:p>
          <a:p>
            <a:pPr indent="0" marL="0">
              <a:lnSpc>
                <a:spcPct val="118000"/>
              </a:lnSpc>
              <a:buNone/>
            </a:pPr>
            <a:r>
              <a:rPr lang="en-US" sz="880" dirty="0">
                <a:solidFill>
                  <a:srgbClr val="4A443A"/>
                </a:solidFill>
                <a:latin typeface="Noto Sans CJK KR" pitchFamily="34" charset="0"/>
                <a:ea typeface="Noto Sans CJK KR" pitchFamily="34" charset="-122"/>
                <a:cs typeface="Noto Sans CJK KR" pitchFamily="34" charset="-120"/>
              </a:rPr>
              <a:t>밴딧 배분에 반영됩니다</a:t>
            </a:r>
            <a:endParaRPr lang="en-US" sz="880" dirty="0"/>
          </a:p>
        </p:txBody>
      </p:sp>
      <p:sp>
        <p:nvSpPr>
          <p:cNvPr id="23" name="Text 21"/>
          <p:cNvSpPr/>
          <p:nvPr/>
        </p:nvSpPr>
        <p:spPr>
          <a:xfrm>
            <a:off x="502920" y="3794760"/>
            <a:ext cx="8138160" cy="320040"/>
          </a:xfrm>
          <a:prstGeom prst="rect">
            <a:avLst/>
          </a:prstGeom>
          <a:noFill/>
          <a:ln/>
        </p:spPr>
        <p:txBody>
          <a:bodyPr wrap="square" lIns="0" tIns="0" rIns="0" bIns="0" rtlCol="0" anchor="ctr"/>
          <a:lstStyle/>
          <a:p>
            <a:pPr indent="0" marL="0">
              <a:buNone/>
            </a:pPr>
            <a:r>
              <a:rPr lang="en-US" sz="1150" dirty="0">
                <a:solidFill>
                  <a:srgbClr val="4A443A"/>
                </a:solidFill>
                <a:latin typeface="Noto Sans CJK KR" pitchFamily="34" charset="0"/>
                <a:ea typeface="Noto Sans CJK KR" pitchFamily="34" charset="-122"/>
                <a:cs typeface="Noto Sans CJK KR" pitchFamily="34" charset="-120"/>
              </a:rPr>
              <a:t>↺  ⑤의 결과가 다시 ①의 재료가 됩니다 — 5월 9일부터 512라운드째, 사람 개입 없이 24시간 순환 중입니다</a:t>
            </a:r>
            <a:endParaRPr lang="en-US" sz="1150" dirty="0"/>
          </a:p>
        </p:txBody>
      </p:sp>
      <p:sp>
        <p:nvSpPr>
          <p:cNvPr id="24" name="Shape 22"/>
          <p:cNvSpPr/>
          <p:nvPr/>
        </p:nvSpPr>
        <p:spPr>
          <a:xfrm>
            <a:off x="502920" y="4315968"/>
            <a:ext cx="82296" cy="82296"/>
          </a:xfrm>
          <a:prstGeom prst="rect">
            <a:avLst/>
          </a:prstGeom>
          <a:solidFill>
            <a:srgbClr val="A63A22"/>
          </a:solidFill>
          <a:ln/>
        </p:spPr>
      </p:sp>
      <p:sp>
        <p:nvSpPr>
          <p:cNvPr id="25" name="Text 23"/>
          <p:cNvSpPr/>
          <p:nvPr/>
        </p:nvSpPr>
        <p:spPr>
          <a:xfrm>
            <a:off x="685800" y="4206240"/>
            <a:ext cx="7955280" cy="320040"/>
          </a:xfrm>
          <a:prstGeom prst="rect">
            <a:avLst/>
          </a:prstGeom>
          <a:noFill/>
          <a:ln/>
        </p:spPr>
        <p:txBody>
          <a:bodyPr wrap="square" lIns="0" tIns="0" rIns="0" bIns="0" rtlCol="0" anchor="ctr"/>
          <a:lstStyle/>
          <a:p>
            <a:pPr indent="0" marL="0">
              <a:buNone/>
            </a:pPr>
            <a:r>
              <a:rPr lang="en-US" sz="1150" b="1" dirty="0">
                <a:solidFill>
                  <a:srgbClr val="1C1914"/>
                </a:solidFill>
                <a:latin typeface="Noto Sans CJK KR" pitchFamily="34" charset="0"/>
                <a:ea typeface="Noto Sans CJK KR" pitchFamily="34" charset="-122"/>
                <a:cs typeface="Noto Sans CJK KR" pitchFamily="34" charset="-120"/>
              </a:rPr>
              <a:t>사람이 하는 일은 단 둘 — 아침의 생체 인증, 그리고 전략 방향 지시입니다</a:t>
            </a:r>
            <a:endParaRPr lang="en-US" sz="1150" dirty="0"/>
          </a:p>
        </p:txBody>
      </p:sp>
      <p:sp>
        <p:nvSpPr>
          <p:cNvPr id="26" name="Shape 24"/>
          <p:cNvSpPr/>
          <p:nvPr/>
        </p:nvSpPr>
        <p:spPr>
          <a:xfrm>
            <a:off x="502920" y="4828032"/>
            <a:ext cx="8138160" cy="0"/>
          </a:xfrm>
          <a:prstGeom prst="line">
            <a:avLst/>
          </a:prstGeom>
          <a:noFill/>
          <a:ln w="9525">
            <a:solidFill>
              <a:srgbClr val="CFCBC1"/>
            </a:solidFill>
            <a:prstDash val="solid"/>
          </a:ln>
        </p:spPr>
      </p:sp>
      <p:sp>
        <p:nvSpPr>
          <p:cNvPr id="27" name="Text 25"/>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28" name="Text 26"/>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03 · GENOME</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알파 한 줄을 유전자 20여 개로 쪼개면,</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기계가 다룰 수 있게 됩니다</a:t>
            </a:r>
            <a:endParaRPr lang="en-US" sz="2300" dirty="0"/>
          </a:p>
        </p:txBody>
      </p:sp>
      <p:sp>
        <p:nvSpPr>
          <p:cNvPr id="4" name="Shape 2"/>
          <p:cNvSpPr/>
          <p:nvPr/>
        </p:nvSpPr>
        <p:spPr>
          <a:xfrm>
            <a:off x="502920" y="2203704"/>
            <a:ext cx="3566160" cy="0"/>
          </a:xfrm>
          <a:prstGeom prst="line">
            <a:avLst/>
          </a:prstGeom>
          <a:noFill/>
          <a:ln w="9525">
            <a:solidFill>
              <a:srgbClr val="CFCBC1"/>
            </a:solidFill>
            <a:prstDash val="solid"/>
          </a:ln>
        </p:spPr>
      </p:sp>
      <p:sp>
        <p:nvSpPr>
          <p:cNvPr id="5" name="Text 3"/>
          <p:cNvSpPr/>
          <p:nvPr/>
        </p:nvSpPr>
        <p:spPr>
          <a:xfrm>
            <a:off x="502920" y="1892808"/>
            <a:ext cx="1234440" cy="274320"/>
          </a:xfrm>
          <a:prstGeom prst="rect">
            <a:avLst/>
          </a:prstGeom>
          <a:noFill/>
          <a:ln/>
        </p:spPr>
        <p:txBody>
          <a:bodyPr wrap="square" lIns="0" tIns="0" rIns="0" bIns="0" rtlCol="0" anchor="ctr"/>
          <a:lstStyle/>
          <a:p>
            <a:pPr indent="0" marL="0">
              <a:buNone/>
            </a:pPr>
            <a:r>
              <a:rPr lang="en-US" sz="900" spc="50" kern="0" dirty="0">
                <a:solidFill>
                  <a:srgbClr val="6E675A"/>
                </a:solidFill>
                <a:latin typeface="Noto Sans Mono CJK KR" pitchFamily="34" charset="0"/>
                <a:ea typeface="Noto Sans Mono CJK KR" pitchFamily="34" charset="-122"/>
                <a:cs typeface="Noto Sans Mono CJK KR" pitchFamily="34" charset="-120"/>
              </a:rPr>
              <a:t>family</a:t>
            </a:r>
            <a:endParaRPr lang="en-US" sz="900" dirty="0"/>
          </a:p>
        </p:txBody>
      </p:sp>
      <p:sp>
        <p:nvSpPr>
          <p:cNvPr id="6" name="Text 4"/>
          <p:cNvSpPr/>
          <p:nvPr/>
        </p:nvSpPr>
        <p:spPr>
          <a:xfrm>
            <a:off x="1801368" y="1892808"/>
            <a:ext cx="2267712" cy="274320"/>
          </a:xfrm>
          <a:prstGeom prst="rect">
            <a:avLst/>
          </a:prstGeom>
          <a:noFill/>
          <a:ln/>
        </p:spPr>
        <p:txBody>
          <a:bodyPr wrap="square" lIns="0" tIns="0" rIns="0" bIns="0" rtlCol="0" anchor="ctr"/>
          <a:lstStyle/>
          <a:p>
            <a:pPr indent="0" marL="0">
              <a:buNone/>
            </a:pPr>
            <a:r>
              <a:rPr lang="en-US" sz="1050" b="1" dirty="0">
                <a:solidFill>
                  <a:srgbClr val="1C1914"/>
                </a:solidFill>
                <a:latin typeface="Noto Sans CJK KR" pitchFamily="34" charset="0"/>
                <a:ea typeface="Noto Sans CJK KR" pitchFamily="34" charset="-122"/>
                <a:cs typeface="Noto Sans CJK KR" pitchFamily="34" charset="-120"/>
              </a:rPr>
              <a:t>news — 뉴스 감성 데이터</a:t>
            </a:r>
            <a:endParaRPr lang="en-US" sz="1050" dirty="0"/>
          </a:p>
        </p:txBody>
      </p:sp>
      <p:sp>
        <p:nvSpPr>
          <p:cNvPr id="7" name="Shape 5"/>
          <p:cNvSpPr/>
          <p:nvPr/>
        </p:nvSpPr>
        <p:spPr>
          <a:xfrm>
            <a:off x="502920" y="2587752"/>
            <a:ext cx="3566160" cy="0"/>
          </a:xfrm>
          <a:prstGeom prst="line">
            <a:avLst/>
          </a:prstGeom>
          <a:noFill/>
          <a:ln w="9525">
            <a:solidFill>
              <a:srgbClr val="CFCBC1"/>
            </a:solidFill>
            <a:prstDash val="solid"/>
          </a:ln>
        </p:spPr>
      </p:sp>
      <p:sp>
        <p:nvSpPr>
          <p:cNvPr id="8" name="Text 6"/>
          <p:cNvSpPr/>
          <p:nvPr/>
        </p:nvSpPr>
        <p:spPr>
          <a:xfrm>
            <a:off x="502920" y="2276856"/>
            <a:ext cx="1234440" cy="274320"/>
          </a:xfrm>
          <a:prstGeom prst="rect">
            <a:avLst/>
          </a:prstGeom>
          <a:noFill/>
          <a:ln/>
        </p:spPr>
        <p:txBody>
          <a:bodyPr wrap="square" lIns="0" tIns="0" rIns="0" bIns="0" rtlCol="0" anchor="ctr"/>
          <a:lstStyle/>
          <a:p>
            <a:pPr indent="0" marL="0">
              <a:buNone/>
            </a:pPr>
            <a:r>
              <a:rPr lang="en-US" sz="900" spc="50" kern="0" dirty="0">
                <a:solidFill>
                  <a:srgbClr val="6E675A"/>
                </a:solidFill>
                <a:latin typeface="Noto Sans Mono CJK KR" pitchFamily="34" charset="0"/>
                <a:ea typeface="Noto Sans Mono CJK KR" pitchFamily="34" charset="-122"/>
                <a:cs typeface="Noto Sans Mono CJK KR" pitchFamily="34" charset="-120"/>
              </a:rPr>
              <a:t>fields</a:t>
            </a:r>
            <a:endParaRPr lang="en-US" sz="900" dirty="0"/>
          </a:p>
        </p:txBody>
      </p:sp>
      <p:sp>
        <p:nvSpPr>
          <p:cNvPr id="9" name="Text 7"/>
          <p:cNvSpPr/>
          <p:nvPr/>
        </p:nvSpPr>
        <p:spPr>
          <a:xfrm>
            <a:off x="1801368" y="2276856"/>
            <a:ext cx="2267712" cy="274320"/>
          </a:xfrm>
          <a:prstGeom prst="rect">
            <a:avLst/>
          </a:prstGeom>
          <a:noFill/>
          <a:ln/>
        </p:spPr>
        <p:txBody>
          <a:bodyPr wrap="square" lIns="0" tIns="0" rIns="0" bIns="0" rtlCol="0" anchor="ctr"/>
          <a:lstStyle/>
          <a:p>
            <a:pPr indent="0" marL="0">
              <a:buNone/>
            </a:pPr>
            <a:r>
              <a:rPr lang="en-US" sz="1050" dirty="0">
                <a:solidFill>
                  <a:srgbClr val="1C1914"/>
                </a:solidFill>
                <a:latin typeface="Noto Sans CJK KR" pitchFamily="34" charset="0"/>
                <a:ea typeface="Noto Sans CJK KR" pitchFamily="34" charset="-122"/>
                <a:cs typeface="Noto Sans CJK KR" pitchFamily="34" charset="-120"/>
              </a:rPr>
              <a:t>부정감성 · 금융하락톤 외 1</a:t>
            </a:r>
            <a:endParaRPr lang="en-US" sz="1050" dirty="0"/>
          </a:p>
        </p:txBody>
      </p:sp>
      <p:sp>
        <p:nvSpPr>
          <p:cNvPr id="10" name="Shape 8"/>
          <p:cNvSpPr/>
          <p:nvPr/>
        </p:nvSpPr>
        <p:spPr>
          <a:xfrm>
            <a:off x="502920" y="2971800"/>
            <a:ext cx="3566160" cy="0"/>
          </a:xfrm>
          <a:prstGeom prst="line">
            <a:avLst/>
          </a:prstGeom>
          <a:noFill/>
          <a:ln w="9525">
            <a:solidFill>
              <a:srgbClr val="CFCBC1"/>
            </a:solidFill>
            <a:prstDash val="solid"/>
          </a:ln>
        </p:spPr>
      </p:sp>
      <p:sp>
        <p:nvSpPr>
          <p:cNvPr id="11" name="Text 9"/>
          <p:cNvSpPr/>
          <p:nvPr/>
        </p:nvSpPr>
        <p:spPr>
          <a:xfrm>
            <a:off x="502920" y="2660904"/>
            <a:ext cx="1234440" cy="274320"/>
          </a:xfrm>
          <a:prstGeom prst="rect">
            <a:avLst/>
          </a:prstGeom>
          <a:noFill/>
          <a:ln/>
        </p:spPr>
        <p:txBody>
          <a:bodyPr wrap="square" lIns="0" tIns="0" rIns="0" bIns="0" rtlCol="0" anchor="ctr"/>
          <a:lstStyle/>
          <a:p>
            <a:pPr indent="0" marL="0">
              <a:buNone/>
            </a:pPr>
            <a:r>
              <a:rPr lang="en-US" sz="900" spc="50" kern="0" dirty="0">
                <a:solidFill>
                  <a:srgbClr val="6E675A"/>
                </a:solidFill>
                <a:latin typeface="Noto Sans Mono CJK KR" pitchFamily="34" charset="0"/>
                <a:ea typeface="Noto Sans Mono CJK KR" pitchFamily="34" charset="-122"/>
                <a:cs typeface="Noto Sans Mono CJK KR" pitchFamily="34" charset="-120"/>
              </a:rPr>
              <a:t>transform</a:t>
            </a:r>
            <a:endParaRPr lang="en-US" sz="900" dirty="0"/>
          </a:p>
        </p:txBody>
      </p:sp>
      <p:sp>
        <p:nvSpPr>
          <p:cNvPr id="12" name="Text 10"/>
          <p:cNvSpPr/>
          <p:nvPr/>
        </p:nvSpPr>
        <p:spPr>
          <a:xfrm>
            <a:off x="1801368" y="2660904"/>
            <a:ext cx="2267712" cy="274320"/>
          </a:xfrm>
          <a:prstGeom prst="rect">
            <a:avLst/>
          </a:prstGeom>
          <a:noFill/>
          <a:ln/>
        </p:spPr>
        <p:txBody>
          <a:bodyPr wrap="square" lIns="0" tIns="0" rIns="0" bIns="0" rtlCol="0" anchor="ctr"/>
          <a:lstStyle/>
          <a:p>
            <a:pPr indent="0" marL="0">
              <a:buNone/>
            </a:pPr>
            <a:r>
              <a:rPr lang="en-US" sz="1050" dirty="0">
                <a:solidFill>
                  <a:srgbClr val="1C1914"/>
                </a:solidFill>
                <a:latin typeface="Noto Sans CJK KR" pitchFamily="34" charset="0"/>
                <a:ea typeface="Noto Sans CJK KR" pitchFamily="34" charset="-122"/>
                <a:cs typeface="Noto Sans CJK KR" pitchFamily="34" charset="-120"/>
              </a:rPr>
              <a:t>ts_delta(3)  ×  ts_mean(10)</a:t>
            </a:r>
            <a:endParaRPr lang="en-US" sz="1050" dirty="0"/>
          </a:p>
        </p:txBody>
      </p:sp>
      <p:sp>
        <p:nvSpPr>
          <p:cNvPr id="13" name="Shape 11"/>
          <p:cNvSpPr/>
          <p:nvPr/>
        </p:nvSpPr>
        <p:spPr>
          <a:xfrm>
            <a:off x="502920" y="3355848"/>
            <a:ext cx="3566160" cy="0"/>
          </a:xfrm>
          <a:prstGeom prst="line">
            <a:avLst/>
          </a:prstGeom>
          <a:noFill/>
          <a:ln w="9525">
            <a:solidFill>
              <a:srgbClr val="CFCBC1"/>
            </a:solidFill>
            <a:prstDash val="solid"/>
          </a:ln>
        </p:spPr>
      </p:sp>
      <p:sp>
        <p:nvSpPr>
          <p:cNvPr id="14" name="Text 12"/>
          <p:cNvSpPr/>
          <p:nvPr/>
        </p:nvSpPr>
        <p:spPr>
          <a:xfrm>
            <a:off x="502920" y="3044952"/>
            <a:ext cx="1234440" cy="274320"/>
          </a:xfrm>
          <a:prstGeom prst="rect">
            <a:avLst/>
          </a:prstGeom>
          <a:noFill/>
          <a:ln/>
        </p:spPr>
        <p:txBody>
          <a:bodyPr wrap="square" lIns="0" tIns="0" rIns="0" bIns="0" rtlCol="0" anchor="ctr"/>
          <a:lstStyle/>
          <a:p>
            <a:pPr indent="0" marL="0">
              <a:buNone/>
            </a:pPr>
            <a:r>
              <a:rPr lang="en-US" sz="900" spc="50" kern="0" dirty="0">
                <a:solidFill>
                  <a:srgbClr val="6E675A"/>
                </a:solidFill>
                <a:latin typeface="Noto Sans Mono CJK KR" pitchFamily="34" charset="0"/>
                <a:ea typeface="Noto Sans Mono CJK KR" pitchFamily="34" charset="-122"/>
                <a:cs typeface="Noto Sans Mono CJK KR" pitchFamily="34" charset="-120"/>
              </a:rPr>
              <a:t>combine · sign</a:t>
            </a:r>
            <a:endParaRPr lang="en-US" sz="900" dirty="0"/>
          </a:p>
        </p:txBody>
      </p:sp>
      <p:sp>
        <p:nvSpPr>
          <p:cNvPr id="15" name="Text 13"/>
          <p:cNvSpPr/>
          <p:nvPr/>
        </p:nvSpPr>
        <p:spPr>
          <a:xfrm>
            <a:off x="1801368" y="3044952"/>
            <a:ext cx="2267712" cy="274320"/>
          </a:xfrm>
          <a:prstGeom prst="rect">
            <a:avLst/>
          </a:prstGeom>
          <a:noFill/>
          <a:ln/>
        </p:spPr>
        <p:txBody>
          <a:bodyPr wrap="square" lIns="0" tIns="0" rIns="0" bIns="0" rtlCol="0" anchor="ctr"/>
          <a:lstStyle/>
          <a:p>
            <a:pPr indent="0" marL="0">
              <a:buNone/>
            </a:pPr>
            <a:r>
              <a:rPr lang="en-US" sz="1050" dirty="0">
                <a:solidFill>
                  <a:srgbClr val="1C1914"/>
                </a:solidFill>
                <a:latin typeface="Noto Sans CJK KR" pitchFamily="34" charset="0"/>
                <a:ea typeface="Noto Sans CJK KR" pitchFamily="34" charset="-122"/>
                <a:cs typeface="Noto Sans CJK KR" pitchFamily="34" charset="-120"/>
              </a:rPr>
              <a:t>sum  ·  반대 방향(−)</a:t>
            </a:r>
            <a:endParaRPr lang="en-US" sz="1050" dirty="0"/>
          </a:p>
        </p:txBody>
      </p:sp>
      <p:sp>
        <p:nvSpPr>
          <p:cNvPr id="16" name="Shape 14"/>
          <p:cNvSpPr/>
          <p:nvPr/>
        </p:nvSpPr>
        <p:spPr>
          <a:xfrm>
            <a:off x="502920" y="3739896"/>
            <a:ext cx="3566160" cy="0"/>
          </a:xfrm>
          <a:prstGeom prst="line">
            <a:avLst/>
          </a:prstGeom>
          <a:noFill/>
          <a:ln w="9525">
            <a:solidFill>
              <a:srgbClr val="CFCBC1"/>
            </a:solidFill>
            <a:prstDash val="solid"/>
          </a:ln>
        </p:spPr>
      </p:sp>
      <p:sp>
        <p:nvSpPr>
          <p:cNvPr id="17" name="Text 15"/>
          <p:cNvSpPr/>
          <p:nvPr/>
        </p:nvSpPr>
        <p:spPr>
          <a:xfrm>
            <a:off x="502920" y="3429000"/>
            <a:ext cx="1234440" cy="274320"/>
          </a:xfrm>
          <a:prstGeom prst="rect">
            <a:avLst/>
          </a:prstGeom>
          <a:noFill/>
          <a:ln/>
        </p:spPr>
        <p:txBody>
          <a:bodyPr wrap="square" lIns="0" tIns="0" rIns="0" bIns="0" rtlCol="0" anchor="ctr"/>
          <a:lstStyle/>
          <a:p>
            <a:pPr indent="0" marL="0">
              <a:buNone/>
            </a:pPr>
            <a:r>
              <a:rPr lang="en-US" sz="900" spc="50" kern="0" dirty="0">
                <a:solidFill>
                  <a:srgbClr val="6E675A"/>
                </a:solidFill>
                <a:latin typeface="Noto Sans Mono CJK KR" pitchFamily="34" charset="0"/>
                <a:ea typeface="Noto Sans Mono CJK KR" pitchFamily="34" charset="-122"/>
                <a:cs typeface="Noto Sans Mono CJK KR" pitchFamily="34" charset="-120"/>
              </a:rPr>
              <a:t>neutralization</a:t>
            </a:r>
            <a:endParaRPr lang="en-US" sz="900" dirty="0"/>
          </a:p>
        </p:txBody>
      </p:sp>
      <p:sp>
        <p:nvSpPr>
          <p:cNvPr id="18" name="Text 16"/>
          <p:cNvSpPr/>
          <p:nvPr/>
        </p:nvSpPr>
        <p:spPr>
          <a:xfrm>
            <a:off x="1801368" y="3429000"/>
            <a:ext cx="2267712" cy="274320"/>
          </a:xfrm>
          <a:prstGeom prst="rect">
            <a:avLst/>
          </a:prstGeom>
          <a:noFill/>
          <a:ln/>
        </p:spPr>
        <p:txBody>
          <a:bodyPr wrap="square" lIns="0" tIns="0" rIns="0" bIns="0" rtlCol="0" anchor="ctr"/>
          <a:lstStyle/>
          <a:p>
            <a:pPr indent="0" marL="0">
              <a:buNone/>
            </a:pPr>
            <a:r>
              <a:rPr lang="en-US" sz="1050" dirty="0">
                <a:solidFill>
                  <a:srgbClr val="1C1914"/>
                </a:solidFill>
                <a:latin typeface="Noto Sans CJK KR" pitchFamily="34" charset="0"/>
                <a:ea typeface="Noto Sans CJK KR" pitchFamily="34" charset="-122"/>
                <a:cs typeface="Noto Sans CJK KR" pitchFamily="34" charset="-120"/>
              </a:rPr>
              <a:t>FAST  ·  decay 2</a:t>
            </a:r>
            <a:endParaRPr lang="en-US" sz="1050" dirty="0"/>
          </a:p>
        </p:txBody>
      </p:sp>
      <p:sp>
        <p:nvSpPr>
          <p:cNvPr id="19" name="Shape 17"/>
          <p:cNvSpPr/>
          <p:nvPr/>
        </p:nvSpPr>
        <p:spPr>
          <a:xfrm>
            <a:off x="502920" y="4123944"/>
            <a:ext cx="3566160" cy="0"/>
          </a:xfrm>
          <a:prstGeom prst="line">
            <a:avLst/>
          </a:prstGeom>
          <a:noFill/>
          <a:ln w="9525">
            <a:solidFill>
              <a:srgbClr val="CFCBC1"/>
            </a:solidFill>
            <a:prstDash val="solid"/>
          </a:ln>
        </p:spPr>
      </p:sp>
      <p:sp>
        <p:nvSpPr>
          <p:cNvPr id="20" name="Text 18"/>
          <p:cNvSpPr/>
          <p:nvPr/>
        </p:nvSpPr>
        <p:spPr>
          <a:xfrm>
            <a:off x="502920" y="3813048"/>
            <a:ext cx="1234440" cy="274320"/>
          </a:xfrm>
          <a:prstGeom prst="rect">
            <a:avLst/>
          </a:prstGeom>
          <a:noFill/>
          <a:ln/>
        </p:spPr>
        <p:txBody>
          <a:bodyPr wrap="square" lIns="0" tIns="0" rIns="0" bIns="0" rtlCol="0" anchor="ctr"/>
          <a:lstStyle/>
          <a:p>
            <a:pPr indent="0" marL="0">
              <a:buNone/>
            </a:pPr>
            <a:r>
              <a:rPr lang="en-US" sz="900" spc="50" kern="0" dirty="0">
                <a:solidFill>
                  <a:srgbClr val="6E675A"/>
                </a:solidFill>
                <a:latin typeface="Noto Sans Mono CJK KR" pitchFamily="34" charset="0"/>
                <a:ea typeface="Noto Sans Mono CJK KR" pitchFamily="34" charset="-122"/>
                <a:cs typeface="Noto Sans Mono CJK KR" pitchFamily="34" charset="-120"/>
              </a:rPr>
              <a:t>guard</a:t>
            </a:r>
            <a:endParaRPr lang="en-US" sz="900" dirty="0"/>
          </a:p>
        </p:txBody>
      </p:sp>
      <p:sp>
        <p:nvSpPr>
          <p:cNvPr id="21" name="Text 19"/>
          <p:cNvSpPr/>
          <p:nvPr/>
        </p:nvSpPr>
        <p:spPr>
          <a:xfrm>
            <a:off x="1801368" y="3813048"/>
            <a:ext cx="2267712" cy="274320"/>
          </a:xfrm>
          <a:prstGeom prst="rect">
            <a:avLst/>
          </a:prstGeom>
          <a:noFill/>
          <a:ln/>
        </p:spPr>
        <p:txBody>
          <a:bodyPr wrap="square" lIns="0" tIns="0" rIns="0" bIns="0" rtlCol="0" anchor="ctr"/>
          <a:lstStyle/>
          <a:p>
            <a:pPr indent="0" marL="0">
              <a:buNone/>
            </a:pPr>
            <a:r>
              <a:rPr lang="en-US" sz="1050" dirty="0">
                <a:solidFill>
                  <a:srgbClr val="1C1914"/>
                </a:solidFill>
                <a:latin typeface="Noto Sans CJK KR" pitchFamily="34" charset="0"/>
                <a:ea typeface="Noto Sans CJK KR" pitchFamily="34" charset="-122"/>
                <a:cs typeface="Noto Sans CJK KR" pitchFamily="34" charset="-120"/>
              </a:rPr>
              <a:t>winsorize σ4 — 이상치 절단</a:t>
            </a:r>
            <a:endParaRPr lang="en-US" sz="1050" dirty="0"/>
          </a:p>
        </p:txBody>
      </p:sp>
      <p:sp>
        <p:nvSpPr>
          <p:cNvPr id="22" name="Text 20"/>
          <p:cNvSpPr/>
          <p:nvPr/>
        </p:nvSpPr>
        <p:spPr>
          <a:xfrm>
            <a:off x="4526280" y="1874520"/>
            <a:ext cx="4114800" cy="274320"/>
          </a:xfrm>
          <a:prstGeom prst="rect">
            <a:avLst/>
          </a:prstGeom>
          <a:noFill/>
          <a:ln/>
        </p:spPr>
        <p:txBody>
          <a:bodyPr wrap="square" lIns="0" tIns="0" rIns="0" bIns="0" rtlCol="0" anchor="ctr"/>
          <a:lstStyle/>
          <a:p>
            <a:pPr indent="0" marL="0">
              <a:buNone/>
            </a:pPr>
            <a:r>
              <a:rPr lang="en-US" sz="1050" dirty="0">
                <a:solidFill>
                  <a:srgbClr val="4A443A"/>
                </a:solidFill>
                <a:latin typeface="Noto Sans CJK KR" pitchFamily="34" charset="0"/>
                <a:ea typeface="Noto Sans CJK KR" pitchFamily="34" charset="-122"/>
                <a:cs typeface="Noto Sans CJK KR" pitchFamily="34" charset="-120"/>
              </a:rPr>
              <a:t>렌더러가 문법이 보장된 FASTEXPR 코드로 조립합니다  ↓</a:t>
            </a:r>
            <a:endParaRPr lang="en-US" sz="1050" dirty="0"/>
          </a:p>
        </p:txBody>
      </p:sp>
      <p:sp>
        <p:nvSpPr>
          <p:cNvPr id="23" name="Shape 21"/>
          <p:cNvSpPr/>
          <p:nvPr/>
        </p:nvSpPr>
        <p:spPr>
          <a:xfrm>
            <a:off x="4526280" y="2212848"/>
            <a:ext cx="4114800" cy="1417320"/>
          </a:xfrm>
          <a:prstGeom prst="rect">
            <a:avLst/>
          </a:prstGeom>
          <a:solidFill>
            <a:srgbClr val="EDE8DB"/>
          </a:solidFill>
          <a:ln w="9525">
            <a:solidFill>
              <a:srgbClr val="CFCBC1"/>
            </a:solidFill>
            <a:prstDash val="solid"/>
          </a:ln>
        </p:spPr>
      </p:sp>
      <p:sp>
        <p:nvSpPr>
          <p:cNvPr id="24" name="Text 22"/>
          <p:cNvSpPr/>
          <p:nvPr/>
        </p:nvSpPr>
        <p:spPr>
          <a:xfrm>
            <a:off x="4654296" y="2304288"/>
            <a:ext cx="3858768" cy="1234440"/>
          </a:xfrm>
          <a:prstGeom prst="rect">
            <a:avLst/>
          </a:prstGeom>
          <a:noFill/>
          <a:ln/>
        </p:spPr>
        <p:txBody>
          <a:bodyPr wrap="square" lIns="0" tIns="0" rIns="0" bIns="0" rtlCol="0" anchor="t"/>
          <a:lstStyle/>
          <a:p>
            <a:pPr indent="0" marL="0">
              <a:lnSpc>
                <a:spcPct val="125000"/>
              </a:lnSpc>
              <a:buNone/>
            </a:pPr>
            <a:r>
              <a:rPr lang="en-US" sz="1000" dirty="0">
                <a:solidFill>
                  <a:srgbClr val="1C1914"/>
                </a:solidFill>
                <a:latin typeface="Noto Sans Mono CJK KR" pitchFamily="34" charset="0"/>
                <a:ea typeface="Noto Sans Mono CJK KR" pitchFamily="34" charset="-122"/>
                <a:cs typeface="Noto Sans Mono CJK KR" pitchFamily="34" charset="-120"/>
              </a:rPr>
              <a:t>rank(winsorize(-1*(add(</a:t>
            </a:r>
            <a:endParaRPr lang="en-US" sz="1000" dirty="0"/>
          </a:p>
          <a:p>
            <a:pPr indent="0" marL="0">
              <a:lnSpc>
                <a:spcPct val="125000"/>
              </a:lnSpc>
              <a:buNone/>
            </a:pPr>
            <a:r>
              <a:rPr lang="en-US" sz="1000" dirty="0">
                <a:solidFill>
                  <a:srgbClr val="1C1914"/>
                </a:solidFill>
                <a:latin typeface="Noto Sans Mono CJK KR" pitchFamily="34" charset="0"/>
                <a:ea typeface="Noto Sans Mono CJK KR" pitchFamily="34" charset="-122"/>
                <a:cs typeface="Noto Sans Mono CJK KR" pitchFamily="34" charset="-120"/>
              </a:rPr>
              <a:t>  ts_delta(vec_avg(뉴스_부정감성),3),</a:t>
            </a:r>
            <a:endParaRPr lang="en-US" sz="1000" dirty="0"/>
          </a:p>
          <a:p>
            <a:pPr indent="0" marL="0">
              <a:lnSpc>
                <a:spcPct val="125000"/>
              </a:lnSpc>
              <a:buNone/>
            </a:pPr>
            <a:r>
              <a:rPr lang="en-US" sz="1000" dirty="0">
                <a:solidFill>
                  <a:srgbClr val="1C1914"/>
                </a:solidFill>
                <a:latin typeface="Noto Sans Mono CJK KR" pitchFamily="34" charset="0"/>
                <a:ea typeface="Noto Sans Mono CJK KR" pitchFamily="34" charset="-122"/>
                <a:cs typeface="Noto Sans Mono CJK KR" pitchFamily="34" charset="-120"/>
              </a:rPr>
              <a:t>  ts_mean(vec_avg(금융_하락톤),10)</a:t>
            </a:r>
            <a:endParaRPr lang="en-US" sz="1000" dirty="0"/>
          </a:p>
          <a:p>
            <a:pPr indent="0" marL="0">
              <a:lnSpc>
                <a:spcPct val="125000"/>
              </a:lnSpc>
              <a:buNone/>
            </a:pPr>
            <a:r>
              <a:rPr lang="en-US" sz="1000" dirty="0">
                <a:solidFill>
                  <a:srgbClr val="1C1914"/>
                </a:solidFill>
                <a:latin typeface="Noto Sans Mono CJK KR" pitchFamily="34" charset="0"/>
                <a:ea typeface="Noto Sans Mono CJK KR" pitchFamily="34" charset="-122"/>
                <a:cs typeface="Noto Sans Mono CJK KR" pitchFamily="34" charset="-120"/>
              </a:rPr>
              <a:t>)),std=4))</a:t>
            </a:r>
            <a:endParaRPr lang="en-US" sz="1000" dirty="0"/>
          </a:p>
        </p:txBody>
      </p:sp>
      <p:sp>
        <p:nvSpPr>
          <p:cNvPr id="25" name="Shape 23"/>
          <p:cNvSpPr/>
          <p:nvPr/>
        </p:nvSpPr>
        <p:spPr>
          <a:xfrm>
            <a:off x="4526280" y="3913632"/>
            <a:ext cx="82296" cy="82296"/>
          </a:xfrm>
          <a:prstGeom prst="rect">
            <a:avLst/>
          </a:prstGeom>
          <a:solidFill>
            <a:srgbClr val="A63A22"/>
          </a:solidFill>
          <a:ln/>
        </p:spPr>
      </p:sp>
      <p:sp>
        <p:nvSpPr>
          <p:cNvPr id="26" name="Text 24"/>
          <p:cNvSpPr/>
          <p:nvPr/>
        </p:nvSpPr>
        <p:spPr>
          <a:xfrm>
            <a:off x="4709160" y="3803904"/>
            <a:ext cx="3931920" cy="566928"/>
          </a:xfrm>
          <a:prstGeom prst="rect">
            <a:avLst/>
          </a:prstGeom>
          <a:noFill/>
          <a:ln/>
        </p:spPr>
        <p:txBody>
          <a:bodyPr wrap="square" lIns="0" tIns="0" rIns="0" bIns="0" rtlCol="0" anchor="t"/>
          <a:lstStyle/>
          <a:p>
            <a:pPr indent="0" marL="0">
              <a:lnSpc>
                <a:spcPct val="120000"/>
              </a:lnSpc>
              <a:buNone/>
            </a:pPr>
            <a:r>
              <a:rPr lang="en-US" sz="1050" b="1" dirty="0">
                <a:solidFill>
                  <a:srgbClr val="1C1914"/>
                </a:solidFill>
                <a:latin typeface="Noto Sans CJK KR" pitchFamily="34" charset="0"/>
                <a:ea typeface="Noto Sans CJK KR" pitchFamily="34" charset="-122"/>
                <a:cs typeface="Noto Sans CJK KR" pitchFamily="34" charset="-120"/>
              </a:rPr>
              <a:t>유전자를 하나 더하면 교차·변이·스윕 전체가 그 축을 자동 탐색합니다 — 템플릿이 스스로 넓어집니다</a:t>
            </a:r>
            <a:endParaRPr lang="en-US" sz="1050" dirty="0"/>
          </a:p>
        </p:txBody>
      </p:sp>
      <p:sp>
        <p:nvSpPr>
          <p:cNvPr id="27" name="Shape 25"/>
          <p:cNvSpPr/>
          <p:nvPr/>
        </p:nvSpPr>
        <p:spPr>
          <a:xfrm>
            <a:off x="502920" y="4828032"/>
            <a:ext cx="8138160" cy="0"/>
          </a:xfrm>
          <a:prstGeom prst="line">
            <a:avLst/>
          </a:prstGeom>
          <a:noFill/>
          <a:ln w="9525">
            <a:solidFill>
              <a:srgbClr val="CFCBC1"/>
            </a:solidFill>
            <a:prstDash val="solid"/>
          </a:ln>
        </p:spPr>
      </p:sp>
      <p:sp>
        <p:nvSpPr>
          <p:cNvPr id="28" name="Text 26"/>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29" name="Text 27"/>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04 · EVOLVE</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무작위 변이가 아니라,</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한 번에 한 축만 바꾸는 실험 설계입니다</a:t>
            </a:r>
            <a:endParaRPr lang="en-US" sz="2300" dirty="0"/>
          </a:p>
        </p:txBody>
      </p:sp>
      <p:sp>
        <p:nvSpPr>
          <p:cNvPr id="4" name="Shape 2"/>
          <p:cNvSpPr/>
          <p:nvPr/>
        </p:nvSpPr>
        <p:spPr>
          <a:xfrm>
            <a:off x="502920" y="1965960"/>
            <a:ext cx="3840480" cy="0"/>
          </a:xfrm>
          <a:prstGeom prst="line">
            <a:avLst/>
          </a:prstGeom>
          <a:noFill/>
          <a:ln w="9525">
            <a:solidFill>
              <a:srgbClr val="CFCBC1"/>
            </a:solidFill>
            <a:prstDash val="solid"/>
          </a:ln>
        </p:spPr>
      </p:sp>
      <p:sp>
        <p:nvSpPr>
          <p:cNvPr id="5" name="Text 3"/>
          <p:cNvSpPr/>
          <p:nvPr/>
        </p:nvSpPr>
        <p:spPr>
          <a:xfrm>
            <a:off x="502920" y="2084832"/>
            <a:ext cx="3840480" cy="274320"/>
          </a:xfrm>
          <a:prstGeom prst="rect">
            <a:avLst/>
          </a:prstGeom>
          <a:noFill/>
          <a:ln/>
        </p:spPr>
        <p:txBody>
          <a:bodyPr wrap="square" lIns="0" tIns="0" rIns="0" bIns="0" rtlCol="0" anchor="ctr"/>
          <a:lstStyle/>
          <a:p>
            <a:pPr indent="0" marL="0">
              <a:buNone/>
            </a:pPr>
            <a:r>
              <a:rPr lang="en-US" sz="1100" spc="150" kern="0" dirty="0">
                <a:solidFill>
                  <a:srgbClr val="4A443A"/>
                </a:solidFill>
                <a:latin typeface="Noto Sans Mono CJK KR" pitchFamily="34" charset="0"/>
                <a:ea typeface="Noto Sans Mono CJK KR" pitchFamily="34" charset="-122"/>
                <a:cs typeface="Noto Sans Mono CJK KR" pitchFamily="34" charset="-120"/>
              </a:rPr>
              <a:t>중립화만 변경 — 동일한 식</a:t>
            </a:r>
            <a:endParaRPr lang="en-US" sz="1100" dirty="0"/>
          </a:p>
        </p:txBody>
      </p:sp>
      <p:sp>
        <p:nvSpPr>
          <p:cNvPr id="6" name="Text 4"/>
          <p:cNvSpPr/>
          <p:nvPr/>
        </p:nvSpPr>
        <p:spPr>
          <a:xfrm>
            <a:off x="502920" y="2395728"/>
            <a:ext cx="3840480" cy="777240"/>
          </a:xfrm>
          <a:prstGeom prst="rect">
            <a:avLst/>
          </a:prstGeom>
          <a:noFill/>
          <a:ln/>
        </p:spPr>
        <p:txBody>
          <a:bodyPr wrap="square" lIns="0" tIns="0" rIns="0" bIns="0" rtlCol="0" anchor="ctr"/>
          <a:lstStyle/>
          <a:p>
            <a:pPr indent="0" marL="0">
              <a:buNone/>
            </a:pPr>
            <a:r>
              <a:rPr lang="en-US" sz="4000" b="1" dirty="0">
                <a:solidFill>
                  <a:srgbClr val="6E675A"/>
                </a:solidFill>
                <a:latin typeface="Noto Serif CJK KR" pitchFamily="34" charset="0"/>
                <a:ea typeface="Noto Serif CJK KR" pitchFamily="34" charset="-122"/>
                <a:cs typeface="Noto Serif CJK KR" pitchFamily="34" charset="-120"/>
              </a:rPr>
              <a:t>1.72</a:t>
            </a:r>
            <a:pPr indent="0" marL="0">
              <a:buNone/>
            </a:pPr>
            <a:r>
              <a:rPr lang="en-US" sz="2200" dirty="0">
                <a:solidFill>
                  <a:srgbClr val="6E675A"/>
                </a:solidFill>
                <a:latin typeface="Noto Sans Mono CJK KR" pitchFamily="34" charset="0"/>
                <a:ea typeface="Noto Sans Mono CJK KR" pitchFamily="34" charset="-122"/>
                <a:cs typeface="Noto Sans Mono CJK KR" pitchFamily="34" charset="-120"/>
              </a:rPr>
              <a:t>  →  </a:t>
            </a:r>
            <a:pPr indent="0" marL="0">
              <a:buNone/>
            </a:pPr>
            <a:r>
              <a:rPr lang="en-US" sz="4000" b="1" dirty="0">
                <a:solidFill>
                  <a:srgbClr val="A63A22"/>
                </a:solidFill>
                <a:latin typeface="Noto Serif CJK KR" pitchFamily="34" charset="0"/>
                <a:ea typeface="Noto Serif CJK KR" pitchFamily="34" charset="-122"/>
                <a:cs typeface="Noto Serif CJK KR" pitchFamily="34" charset="-120"/>
              </a:rPr>
              <a:t>2.47</a:t>
            </a:r>
            <a:pPr indent="0" marL="0">
              <a:buNone/>
            </a:pPr>
            <a:r>
              <a:rPr lang="en-US" sz="1200" dirty="0">
                <a:solidFill>
                  <a:srgbClr val="6E675A"/>
                </a:solidFill>
                <a:latin typeface="Noto Sans CJK KR" pitchFamily="34" charset="0"/>
                <a:ea typeface="Noto Sans CJK KR" pitchFamily="34" charset="-122"/>
                <a:cs typeface="Noto Sans CJK KR" pitchFamily="34" charset="-120"/>
              </a:rPr>
              <a:t>  Sharpe</a:t>
            </a:r>
            <a:endParaRPr lang="en-US" sz="4000" dirty="0"/>
          </a:p>
        </p:txBody>
      </p:sp>
      <p:sp>
        <p:nvSpPr>
          <p:cNvPr id="7" name="Text 5"/>
          <p:cNvSpPr/>
          <p:nvPr/>
        </p:nvSpPr>
        <p:spPr>
          <a:xfrm>
            <a:off x="502920" y="3310128"/>
            <a:ext cx="3840480" cy="566928"/>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STATISTICAL 중립화로 바꾸는 것만으로 샤프가 44% 올랐습니다</a:t>
            </a:r>
            <a:endParaRPr lang="en-US" sz="1050" dirty="0"/>
          </a:p>
        </p:txBody>
      </p:sp>
      <p:sp>
        <p:nvSpPr>
          <p:cNvPr id="8" name="Shape 6"/>
          <p:cNvSpPr/>
          <p:nvPr/>
        </p:nvSpPr>
        <p:spPr>
          <a:xfrm>
            <a:off x="4800600" y="1965960"/>
            <a:ext cx="3840480" cy="0"/>
          </a:xfrm>
          <a:prstGeom prst="line">
            <a:avLst/>
          </a:prstGeom>
          <a:noFill/>
          <a:ln w="9525">
            <a:solidFill>
              <a:srgbClr val="CFCBC1"/>
            </a:solidFill>
            <a:prstDash val="solid"/>
          </a:ln>
        </p:spPr>
      </p:sp>
      <p:sp>
        <p:nvSpPr>
          <p:cNvPr id="9" name="Text 7"/>
          <p:cNvSpPr/>
          <p:nvPr/>
        </p:nvSpPr>
        <p:spPr>
          <a:xfrm>
            <a:off x="4800600" y="2084832"/>
            <a:ext cx="3840480" cy="274320"/>
          </a:xfrm>
          <a:prstGeom prst="rect">
            <a:avLst/>
          </a:prstGeom>
          <a:noFill/>
          <a:ln/>
        </p:spPr>
        <p:txBody>
          <a:bodyPr wrap="square" lIns="0" tIns="0" rIns="0" bIns="0" rtlCol="0" anchor="ctr"/>
          <a:lstStyle/>
          <a:p>
            <a:pPr indent="0" marL="0">
              <a:buNone/>
            </a:pPr>
            <a:r>
              <a:rPr lang="en-US" sz="1100" spc="150" kern="0" dirty="0">
                <a:solidFill>
                  <a:srgbClr val="4A443A"/>
                </a:solidFill>
                <a:latin typeface="Noto Sans Mono CJK KR" pitchFamily="34" charset="0"/>
                <a:ea typeface="Noto Sans Mono CJK KR" pitchFamily="34" charset="-122"/>
                <a:cs typeface="Noto Sans Mono CJK KR" pitchFamily="34" charset="-120"/>
              </a:rPr>
              <a:t>감쇠(decay)만 변경 — 동일한 식</a:t>
            </a:r>
            <a:endParaRPr lang="en-US" sz="1100" dirty="0"/>
          </a:p>
        </p:txBody>
      </p:sp>
      <p:sp>
        <p:nvSpPr>
          <p:cNvPr id="10" name="Text 8"/>
          <p:cNvSpPr/>
          <p:nvPr/>
        </p:nvSpPr>
        <p:spPr>
          <a:xfrm>
            <a:off x="4800600" y="2395728"/>
            <a:ext cx="3840480" cy="777240"/>
          </a:xfrm>
          <a:prstGeom prst="rect">
            <a:avLst/>
          </a:prstGeom>
          <a:noFill/>
          <a:ln/>
        </p:spPr>
        <p:txBody>
          <a:bodyPr wrap="square" lIns="0" tIns="0" rIns="0" bIns="0" rtlCol="0" anchor="ctr"/>
          <a:lstStyle/>
          <a:p>
            <a:pPr indent="0" marL="0">
              <a:buNone/>
            </a:pPr>
            <a:r>
              <a:rPr lang="en-US" sz="4000" b="1" dirty="0">
                <a:solidFill>
                  <a:srgbClr val="6E675A"/>
                </a:solidFill>
                <a:latin typeface="Noto Serif CJK KR" pitchFamily="34" charset="0"/>
                <a:ea typeface="Noto Serif CJK KR" pitchFamily="34" charset="-122"/>
                <a:cs typeface="Noto Serif CJK KR" pitchFamily="34" charset="-120"/>
              </a:rPr>
              <a:t>100%</a:t>
            </a:r>
            <a:pPr indent="0" marL="0">
              <a:buNone/>
            </a:pPr>
            <a:r>
              <a:rPr lang="en-US" sz="2200" dirty="0">
                <a:solidFill>
                  <a:srgbClr val="6E675A"/>
                </a:solidFill>
                <a:latin typeface="Noto Sans Mono CJK KR" pitchFamily="34" charset="0"/>
                <a:ea typeface="Noto Sans Mono CJK KR" pitchFamily="34" charset="-122"/>
                <a:cs typeface="Noto Sans Mono CJK KR" pitchFamily="34" charset="-120"/>
              </a:rPr>
              <a:t>  →  </a:t>
            </a:r>
            <a:pPr indent="0" marL="0">
              <a:buNone/>
            </a:pPr>
            <a:r>
              <a:rPr lang="en-US" sz="4000" b="1" dirty="0">
                <a:solidFill>
                  <a:srgbClr val="A63A22"/>
                </a:solidFill>
                <a:latin typeface="Noto Serif CJK KR" pitchFamily="34" charset="0"/>
                <a:ea typeface="Noto Serif CJK KR" pitchFamily="34" charset="-122"/>
                <a:cs typeface="Noto Serif CJK KR" pitchFamily="34" charset="-120"/>
              </a:rPr>
              <a:t>48%</a:t>
            </a:r>
            <a:pPr indent="0" marL="0">
              <a:buNone/>
            </a:pPr>
            <a:r>
              <a:rPr lang="en-US" sz="1200" dirty="0">
                <a:solidFill>
                  <a:srgbClr val="6E675A"/>
                </a:solidFill>
                <a:latin typeface="Noto Sans CJK KR" pitchFamily="34" charset="0"/>
                <a:ea typeface="Noto Sans CJK KR" pitchFamily="34" charset="-122"/>
                <a:cs typeface="Noto Sans CJK KR" pitchFamily="34" charset="-120"/>
              </a:rPr>
              <a:t>  회전율</a:t>
            </a:r>
            <a:endParaRPr lang="en-US" sz="4000" dirty="0"/>
          </a:p>
        </p:txBody>
      </p:sp>
      <p:sp>
        <p:nvSpPr>
          <p:cNvPr id="11" name="Text 9"/>
          <p:cNvSpPr/>
          <p:nvPr/>
        </p:nvSpPr>
        <p:spPr>
          <a:xfrm>
            <a:off x="4800600" y="3310128"/>
            <a:ext cx="3840480" cy="566928"/>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감쇠 0→8 한 축으로 회전율이 절반이 됐습니다</a:t>
            </a:r>
            <a:endParaRPr lang="en-US" sz="1050" dirty="0"/>
          </a:p>
        </p:txBody>
      </p:sp>
      <p:sp>
        <p:nvSpPr>
          <p:cNvPr id="12" name="Shape 10"/>
          <p:cNvSpPr/>
          <p:nvPr/>
        </p:nvSpPr>
        <p:spPr>
          <a:xfrm>
            <a:off x="502920" y="4224528"/>
            <a:ext cx="82296" cy="82296"/>
          </a:xfrm>
          <a:prstGeom prst="rect">
            <a:avLst/>
          </a:prstGeom>
          <a:solidFill>
            <a:srgbClr val="A63A22"/>
          </a:solidFill>
          <a:ln/>
        </p:spPr>
      </p:sp>
      <p:sp>
        <p:nvSpPr>
          <p:cNvPr id="13" name="Text 11"/>
          <p:cNvSpPr/>
          <p:nvPr/>
        </p:nvSpPr>
        <p:spPr>
          <a:xfrm>
            <a:off x="685800" y="4114800"/>
            <a:ext cx="7955280" cy="365760"/>
          </a:xfrm>
          <a:prstGeom prst="rect">
            <a:avLst/>
          </a:prstGeom>
          <a:noFill/>
          <a:ln/>
        </p:spPr>
        <p:txBody>
          <a:bodyPr wrap="square" lIns="0" tIns="0" rIns="0" bIns="0" rtlCol="0" anchor="ctr"/>
          <a:lstStyle/>
          <a:p>
            <a:pPr indent="0" marL="0">
              <a:buNone/>
            </a:pPr>
            <a:r>
              <a:rPr lang="en-US" sz="1150" b="1" dirty="0">
                <a:solidFill>
                  <a:srgbClr val="1C1914"/>
                </a:solidFill>
                <a:latin typeface="Noto Sans CJK KR" pitchFamily="34" charset="0"/>
                <a:ea typeface="Noto Sans CJK KR" pitchFamily="34" charset="-122"/>
                <a:cs typeface="Noto Sans CJK KR" pitchFamily="34" charset="-120"/>
              </a:rPr>
              <a:t>여러 축을 동시에 흔들면 무엇이 효과였는지 배울 수 없습니다 — 스윕 슬롯이 엘리트의 노브를 한 축씩 훑습니다</a:t>
            </a:r>
            <a:endParaRPr lang="en-US" sz="1150" dirty="0"/>
          </a:p>
        </p:txBody>
      </p:sp>
      <p:sp>
        <p:nvSpPr>
          <p:cNvPr id="14" name="Shape 12"/>
          <p:cNvSpPr/>
          <p:nvPr/>
        </p:nvSpPr>
        <p:spPr>
          <a:xfrm>
            <a:off x="502920" y="4828032"/>
            <a:ext cx="8138160" cy="0"/>
          </a:xfrm>
          <a:prstGeom prst="line">
            <a:avLst/>
          </a:prstGeom>
          <a:noFill/>
          <a:ln w="9525">
            <a:solidFill>
              <a:srgbClr val="CFCBC1"/>
            </a:solidFill>
            <a:prstDash val="solid"/>
          </a:ln>
        </p:spPr>
      </p:sp>
      <p:sp>
        <p:nvSpPr>
          <p:cNvPr id="15" name="Text 13"/>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16" name="Text 14"/>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05 · COMMITTEE</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탐색 방향은 LLM 위원회가 정하고,</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성과 검증은 밴딧이 맡습니다</a:t>
            </a:r>
            <a:endParaRPr lang="en-US" sz="2300" dirty="0"/>
          </a:p>
        </p:txBody>
      </p:sp>
      <p:sp>
        <p:nvSpPr>
          <p:cNvPr id="4" name="Shape 2"/>
          <p:cNvSpPr/>
          <p:nvPr/>
        </p:nvSpPr>
        <p:spPr>
          <a:xfrm>
            <a:off x="502920" y="2034540"/>
            <a:ext cx="82296" cy="82296"/>
          </a:xfrm>
          <a:prstGeom prst="rect">
            <a:avLst/>
          </a:prstGeom>
          <a:solidFill>
            <a:srgbClr val="A63A22"/>
          </a:solidFill>
          <a:ln/>
        </p:spPr>
      </p:sp>
      <p:sp>
        <p:nvSpPr>
          <p:cNvPr id="5" name="Text 3"/>
          <p:cNvSpPr/>
          <p:nvPr/>
        </p:nvSpPr>
        <p:spPr>
          <a:xfrm>
            <a:off x="704088" y="1965960"/>
            <a:ext cx="7863840" cy="310896"/>
          </a:xfrm>
          <a:prstGeom prst="rect">
            <a:avLst/>
          </a:prstGeom>
          <a:noFill/>
          <a:ln/>
        </p:spPr>
        <p:txBody>
          <a:bodyPr wrap="square" lIns="0" tIns="0" rIns="0" bIns="0" rtlCol="0" anchor="ctr"/>
          <a:lstStyle/>
          <a:p>
            <a:pPr indent="0" marL="0">
              <a:buNone/>
            </a:pPr>
            <a:r>
              <a:rPr lang="en-US" sz="1400" b="1" dirty="0">
                <a:solidFill>
                  <a:srgbClr val="1C1914"/>
                </a:solidFill>
                <a:latin typeface="Noto Serif CJK KR" pitchFamily="34" charset="0"/>
                <a:ea typeface="Noto Serif CJK KR" pitchFamily="34" charset="-122"/>
                <a:cs typeface="Noto Serif CJK KR" pitchFamily="34" charset="-120"/>
              </a:rPr>
              <a:t>LLM 위원회   </a:t>
            </a:r>
            <a:pPr indent="0" marL="0">
              <a:buNone/>
            </a:pPr>
            <a:r>
              <a:rPr lang="en-US" sz="1200" dirty="0">
                <a:solidFill>
                  <a:srgbClr val="4A443A"/>
                </a:solidFill>
                <a:latin typeface="Noto Sans CJK KR" pitchFamily="34" charset="0"/>
                <a:ea typeface="Noto Sans CJK KR" pitchFamily="34" charset="-122"/>
                <a:cs typeface="Noto Sans CJK KR" pitchFamily="34" charset="-120"/>
              </a:rPr>
              <a:t>라운드마다 슬롯 배분 정책을 결정합니다</a:t>
            </a:r>
            <a:endParaRPr lang="en-US" sz="1400" dirty="0"/>
          </a:p>
        </p:txBody>
      </p:sp>
      <p:sp>
        <p:nvSpPr>
          <p:cNvPr id="6" name="Text 4"/>
          <p:cNvSpPr/>
          <p:nvPr/>
        </p:nvSpPr>
        <p:spPr>
          <a:xfrm>
            <a:off x="704088" y="2295144"/>
            <a:ext cx="7680960" cy="320040"/>
          </a:xfrm>
          <a:prstGeom prst="rect">
            <a:avLst/>
          </a:prstGeom>
          <a:noFill/>
          <a:ln/>
        </p:spPr>
        <p:txBody>
          <a:bodyPr wrap="square" lIns="0" tIns="0" rIns="0" bIns="0" rtlCol="0" anchor="ctr"/>
          <a:lstStyle/>
          <a:p>
            <a:pPr indent="0" marL="0">
              <a:buNone/>
            </a:pPr>
            <a:r>
              <a:rPr lang="en-US" sz="1050" dirty="0">
                <a:solidFill>
                  <a:srgbClr val="6E675A"/>
                </a:solidFill>
                <a:latin typeface="Noto Sans CJK KR" pitchFamily="34" charset="0"/>
                <a:ea typeface="Noto Sans CJK KR" pitchFamily="34" charset="-122"/>
                <a:cs typeface="Noto Sans CJK KR" pitchFamily="34" charset="-120"/>
              </a:rPr>
              <a:t>서치스페이스를 사람의 감이 아니라 AI 합의로 정합니다. 정책이 낡으면 자동으로 폐기됩니다.</a:t>
            </a:r>
            <a:endParaRPr lang="en-US" sz="1050" dirty="0"/>
          </a:p>
        </p:txBody>
      </p:sp>
      <p:sp>
        <p:nvSpPr>
          <p:cNvPr id="7" name="Shape 5"/>
          <p:cNvSpPr/>
          <p:nvPr/>
        </p:nvSpPr>
        <p:spPr>
          <a:xfrm>
            <a:off x="502920" y="2679192"/>
            <a:ext cx="8138160" cy="0"/>
          </a:xfrm>
          <a:prstGeom prst="line">
            <a:avLst/>
          </a:prstGeom>
          <a:noFill/>
          <a:ln w="9525">
            <a:solidFill>
              <a:srgbClr val="CFCBC1"/>
            </a:solidFill>
            <a:prstDash val="solid"/>
          </a:ln>
        </p:spPr>
      </p:sp>
      <p:sp>
        <p:nvSpPr>
          <p:cNvPr id="8" name="Shape 6"/>
          <p:cNvSpPr/>
          <p:nvPr/>
        </p:nvSpPr>
        <p:spPr>
          <a:xfrm>
            <a:off x="502920" y="2875788"/>
            <a:ext cx="82296" cy="82296"/>
          </a:xfrm>
          <a:prstGeom prst="rect">
            <a:avLst/>
          </a:prstGeom>
          <a:solidFill>
            <a:srgbClr val="4A443A"/>
          </a:solidFill>
          <a:ln/>
        </p:spPr>
      </p:sp>
      <p:sp>
        <p:nvSpPr>
          <p:cNvPr id="9" name="Text 7"/>
          <p:cNvSpPr/>
          <p:nvPr/>
        </p:nvSpPr>
        <p:spPr>
          <a:xfrm>
            <a:off x="704088" y="2807208"/>
            <a:ext cx="7863840" cy="310896"/>
          </a:xfrm>
          <a:prstGeom prst="rect">
            <a:avLst/>
          </a:prstGeom>
          <a:noFill/>
          <a:ln/>
        </p:spPr>
        <p:txBody>
          <a:bodyPr wrap="square" lIns="0" tIns="0" rIns="0" bIns="0" rtlCol="0" anchor="ctr"/>
          <a:lstStyle/>
          <a:p>
            <a:pPr indent="0" marL="0">
              <a:buNone/>
            </a:pPr>
            <a:r>
              <a:rPr lang="en-US" sz="1400" b="1" dirty="0">
                <a:solidFill>
                  <a:srgbClr val="1C1914"/>
                </a:solidFill>
                <a:latin typeface="Noto Serif CJK KR" pitchFamily="34" charset="0"/>
                <a:ea typeface="Noto Serif CJK KR" pitchFamily="34" charset="-122"/>
                <a:cs typeface="Noto Serif CJK KR" pitchFamily="34" charset="-120"/>
              </a:rPr>
              <a:t>수율 밴딧   </a:t>
            </a:r>
            <a:pPr indent="0" marL="0">
              <a:buNone/>
            </a:pPr>
            <a:r>
              <a:rPr lang="en-US" sz="1200" dirty="0">
                <a:solidFill>
                  <a:srgbClr val="4A443A"/>
                </a:solidFill>
                <a:latin typeface="Noto Sans CJK KR" pitchFamily="34" charset="0"/>
                <a:ea typeface="Noto Sans CJK KR" pitchFamily="34" charset="-122"/>
                <a:cs typeface="Noto Sans CJK KR" pitchFamily="34" charset="-120"/>
              </a:rPr>
              <a:t>통과 없는 시뮬만 쌓는 축은 감점됩니다</a:t>
            </a:r>
            <a:endParaRPr lang="en-US" sz="1400" dirty="0"/>
          </a:p>
        </p:txBody>
      </p:sp>
      <p:sp>
        <p:nvSpPr>
          <p:cNvPr id="10" name="Text 8"/>
          <p:cNvSpPr/>
          <p:nvPr/>
        </p:nvSpPr>
        <p:spPr>
          <a:xfrm>
            <a:off x="704088" y="3136392"/>
            <a:ext cx="7680960" cy="320040"/>
          </a:xfrm>
          <a:prstGeom prst="rect">
            <a:avLst/>
          </a:prstGeom>
          <a:noFill/>
          <a:ln/>
        </p:spPr>
        <p:txBody>
          <a:bodyPr wrap="square" lIns="0" tIns="0" rIns="0" bIns="0" rtlCol="0" anchor="ctr"/>
          <a:lstStyle/>
          <a:p>
            <a:pPr indent="0" marL="0">
              <a:buNone/>
            </a:pPr>
            <a:r>
              <a:rPr lang="en-US" sz="1050" dirty="0">
                <a:solidFill>
                  <a:srgbClr val="6E675A"/>
                </a:solidFill>
                <a:latin typeface="Noto Sans CJK KR" pitchFamily="34" charset="0"/>
                <a:ea typeface="Noto Sans CJK KR" pitchFamily="34" charset="-122"/>
                <a:cs typeface="Noto Sans CJK KR" pitchFamily="34" charset="-120"/>
              </a:rPr>
              <a:t>시뮬 쿼터가 고수율 축으로 흐르도록 탐색/착취 비율을 성과 트렌드로 자동 조절합니다.</a:t>
            </a:r>
            <a:endParaRPr lang="en-US" sz="1050" dirty="0"/>
          </a:p>
        </p:txBody>
      </p:sp>
      <p:sp>
        <p:nvSpPr>
          <p:cNvPr id="11" name="Shape 9"/>
          <p:cNvSpPr/>
          <p:nvPr/>
        </p:nvSpPr>
        <p:spPr>
          <a:xfrm>
            <a:off x="502920" y="3520440"/>
            <a:ext cx="8138160" cy="0"/>
          </a:xfrm>
          <a:prstGeom prst="line">
            <a:avLst/>
          </a:prstGeom>
          <a:noFill/>
          <a:ln w="9525">
            <a:solidFill>
              <a:srgbClr val="CFCBC1"/>
            </a:solidFill>
            <a:prstDash val="solid"/>
          </a:ln>
        </p:spPr>
      </p:sp>
      <p:sp>
        <p:nvSpPr>
          <p:cNvPr id="12" name="Shape 10"/>
          <p:cNvSpPr/>
          <p:nvPr/>
        </p:nvSpPr>
        <p:spPr>
          <a:xfrm>
            <a:off x="502920" y="3717036"/>
            <a:ext cx="82296" cy="82296"/>
          </a:xfrm>
          <a:prstGeom prst="rect">
            <a:avLst/>
          </a:prstGeom>
          <a:solidFill>
            <a:srgbClr val="4A443A"/>
          </a:solidFill>
          <a:ln/>
        </p:spPr>
      </p:sp>
      <p:sp>
        <p:nvSpPr>
          <p:cNvPr id="13" name="Text 11"/>
          <p:cNvSpPr/>
          <p:nvPr/>
        </p:nvSpPr>
        <p:spPr>
          <a:xfrm>
            <a:off x="704088" y="3648456"/>
            <a:ext cx="7863840" cy="310896"/>
          </a:xfrm>
          <a:prstGeom prst="rect">
            <a:avLst/>
          </a:prstGeom>
          <a:noFill/>
          <a:ln/>
        </p:spPr>
        <p:txBody>
          <a:bodyPr wrap="square" lIns="0" tIns="0" rIns="0" bIns="0" rtlCol="0" anchor="ctr"/>
          <a:lstStyle/>
          <a:p>
            <a:pPr indent="0" marL="0">
              <a:buNone/>
            </a:pPr>
            <a:r>
              <a:rPr lang="en-US" sz="1400" b="1" dirty="0">
                <a:solidFill>
                  <a:srgbClr val="1C1914"/>
                </a:solidFill>
                <a:latin typeface="Noto Serif CJK KR" pitchFamily="34" charset="0"/>
                <a:ea typeface="Noto Serif CJK KR" pitchFamily="34" charset="-122"/>
                <a:cs typeface="Noto Serif CJK KR" pitchFamily="34" charset="-120"/>
              </a:rPr>
              <a:t>전략스펙   </a:t>
            </a:r>
            <a:pPr indent="0" marL="0">
              <a:buNone/>
            </a:pPr>
            <a:r>
              <a:rPr lang="en-US" sz="1200" dirty="0">
                <a:solidFill>
                  <a:srgbClr val="4A443A"/>
                </a:solidFill>
                <a:latin typeface="Noto Sans CJK KR" pitchFamily="34" charset="0"/>
                <a:ea typeface="Noto Sans CJK KR" pitchFamily="34" charset="-122"/>
                <a:cs typeface="Noto Sans CJK KR" pitchFamily="34" charset="-120"/>
              </a:rPr>
              <a:t>LLM 리서치 아이디어는 원본 그대로 1회 측정합니다</a:t>
            </a:r>
            <a:endParaRPr lang="en-US" sz="1400" dirty="0"/>
          </a:p>
        </p:txBody>
      </p:sp>
      <p:sp>
        <p:nvSpPr>
          <p:cNvPr id="14" name="Text 12"/>
          <p:cNvSpPr/>
          <p:nvPr/>
        </p:nvSpPr>
        <p:spPr>
          <a:xfrm>
            <a:off x="704088" y="3977640"/>
            <a:ext cx="7680960" cy="320040"/>
          </a:xfrm>
          <a:prstGeom prst="rect">
            <a:avLst/>
          </a:prstGeom>
          <a:noFill/>
          <a:ln/>
        </p:spPr>
        <p:txBody>
          <a:bodyPr wrap="square" lIns="0" tIns="0" rIns="0" bIns="0" rtlCol="0" anchor="ctr"/>
          <a:lstStyle/>
          <a:p>
            <a:pPr indent="0" marL="0">
              <a:buNone/>
            </a:pPr>
            <a:r>
              <a:rPr lang="en-US" sz="1050" dirty="0">
                <a:solidFill>
                  <a:srgbClr val="6E675A"/>
                </a:solidFill>
                <a:latin typeface="Noto Sans CJK KR" pitchFamily="34" charset="0"/>
                <a:ea typeface="Noto Sans CJK KR" pitchFamily="34" charset="-122"/>
                <a:cs typeface="Noto Sans CJK KR" pitchFamily="34" charset="-120"/>
              </a:rPr>
              <a:t>변이 없이 먼저 성적을 재야 '그 아이디어가 먹혔는지'를 정직하게 말할 수 있습니다. 이후 GA의 재료가 됩니다.</a:t>
            </a:r>
            <a:endParaRPr lang="en-US" sz="1050" dirty="0"/>
          </a:p>
        </p:txBody>
      </p:sp>
      <p:sp>
        <p:nvSpPr>
          <p:cNvPr id="15" name="Shape 13"/>
          <p:cNvSpPr/>
          <p:nvPr/>
        </p:nvSpPr>
        <p:spPr>
          <a:xfrm>
            <a:off x="502920" y="4828032"/>
            <a:ext cx="8138160" cy="0"/>
          </a:xfrm>
          <a:prstGeom prst="line">
            <a:avLst/>
          </a:prstGeom>
          <a:noFill/>
          <a:ln w="9525">
            <a:solidFill>
              <a:srgbClr val="CFCBC1"/>
            </a:solidFill>
            <a:prstDash val="solid"/>
          </a:ln>
        </p:spPr>
      </p:sp>
      <p:sp>
        <p:nvSpPr>
          <p:cNvPr id="16" name="Text 14"/>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17" name="Text 15"/>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06 · OUTPUT</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83일 동안 29,748번 실험했고,</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269개가 전 체크를 통과했습니다</a:t>
            </a:r>
            <a:endParaRPr lang="en-US" sz="2300" dirty="0"/>
          </a:p>
        </p:txBody>
      </p:sp>
      <p:sp>
        <p:nvSpPr>
          <p:cNvPr id="4" name="Text 2"/>
          <p:cNvSpPr/>
          <p:nvPr/>
        </p:nvSpPr>
        <p:spPr>
          <a:xfrm>
            <a:off x="548640" y="2468880"/>
            <a:ext cx="1490472" cy="685800"/>
          </a:xfrm>
          <a:prstGeom prst="rect">
            <a:avLst/>
          </a:prstGeom>
          <a:noFill/>
          <a:ln/>
        </p:spPr>
        <p:txBody>
          <a:bodyPr wrap="square" lIns="0" tIns="0" rIns="0" bIns="0" rtlCol="0" anchor="ctr"/>
          <a:lstStyle/>
          <a:p>
            <a:pPr algn="ctr" indent="0" marL="0">
              <a:buNone/>
            </a:pPr>
            <a:r>
              <a:rPr lang="en-US" sz="3000" b="1" dirty="0">
                <a:solidFill>
                  <a:srgbClr val="1C1914"/>
                </a:solidFill>
                <a:latin typeface="Noto Serif CJK KR" pitchFamily="34" charset="0"/>
                <a:ea typeface="Noto Serif CJK KR" pitchFamily="34" charset="-122"/>
                <a:cs typeface="Noto Serif CJK KR" pitchFamily="34" charset="-120"/>
              </a:rPr>
              <a:t>29,748</a:t>
            </a:r>
            <a:endParaRPr lang="en-US" sz="3000" dirty="0"/>
          </a:p>
        </p:txBody>
      </p:sp>
      <p:sp>
        <p:nvSpPr>
          <p:cNvPr id="5" name="Text 3"/>
          <p:cNvSpPr/>
          <p:nvPr/>
        </p:nvSpPr>
        <p:spPr>
          <a:xfrm>
            <a:off x="548640" y="3200400"/>
            <a:ext cx="1490472" cy="274320"/>
          </a:xfrm>
          <a:prstGeom prst="rect">
            <a:avLst/>
          </a:prstGeom>
          <a:noFill/>
          <a:ln/>
        </p:spPr>
        <p:txBody>
          <a:bodyPr wrap="square" lIns="0" tIns="0" rIns="0" bIns="0" rtlCol="0" anchor="ctr"/>
          <a:lstStyle/>
          <a:p>
            <a:pPr algn="ctr" indent="0" marL="0">
              <a:buNone/>
            </a:pPr>
            <a:r>
              <a:rPr lang="en-US" sz="950" spc="150" kern="0" dirty="0">
                <a:solidFill>
                  <a:srgbClr val="6E675A"/>
                </a:solidFill>
                <a:latin typeface="Noto Sans Mono CJK KR" pitchFamily="34" charset="0"/>
                <a:ea typeface="Noto Sans Mono CJK KR" pitchFamily="34" charset="-122"/>
                <a:cs typeface="Noto Sans Mono CJK KR" pitchFamily="34" charset="-120"/>
              </a:rPr>
              <a:t>시뮬레이션</a:t>
            </a:r>
            <a:endParaRPr lang="en-US" sz="950" dirty="0"/>
          </a:p>
        </p:txBody>
      </p:sp>
      <p:sp>
        <p:nvSpPr>
          <p:cNvPr id="6" name="Shape 4"/>
          <p:cNvSpPr/>
          <p:nvPr/>
        </p:nvSpPr>
        <p:spPr>
          <a:xfrm>
            <a:off x="2130552" y="2331720"/>
            <a:ext cx="0" cy="1371600"/>
          </a:xfrm>
          <a:prstGeom prst="line">
            <a:avLst/>
          </a:prstGeom>
          <a:noFill/>
          <a:ln w="9525">
            <a:solidFill>
              <a:srgbClr val="CFCBC1"/>
            </a:solidFill>
            <a:prstDash val="solid"/>
          </a:ln>
        </p:spPr>
      </p:sp>
      <p:sp>
        <p:nvSpPr>
          <p:cNvPr id="7" name="Text 5"/>
          <p:cNvSpPr/>
          <p:nvPr/>
        </p:nvSpPr>
        <p:spPr>
          <a:xfrm>
            <a:off x="2176272" y="2468880"/>
            <a:ext cx="1490472" cy="685800"/>
          </a:xfrm>
          <a:prstGeom prst="rect">
            <a:avLst/>
          </a:prstGeom>
          <a:noFill/>
          <a:ln/>
        </p:spPr>
        <p:txBody>
          <a:bodyPr wrap="square" lIns="0" tIns="0" rIns="0" bIns="0" rtlCol="0" anchor="ctr"/>
          <a:lstStyle/>
          <a:p>
            <a:pPr algn="ctr" indent="0" marL="0">
              <a:buNone/>
            </a:pPr>
            <a:r>
              <a:rPr lang="en-US" sz="3600" b="1" dirty="0">
                <a:solidFill>
                  <a:srgbClr val="1C1914"/>
                </a:solidFill>
                <a:latin typeface="Noto Serif CJK KR" pitchFamily="34" charset="0"/>
                <a:ea typeface="Noto Serif CJK KR" pitchFamily="34" charset="-122"/>
                <a:cs typeface="Noto Serif CJK KR" pitchFamily="34" charset="-120"/>
              </a:rPr>
              <a:t>512</a:t>
            </a:r>
            <a:endParaRPr lang="en-US" sz="3600" dirty="0"/>
          </a:p>
        </p:txBody>
      </p:sp>
      <p:sp>
        <p:nvSpPr>
          <p:cNvPr id="8" name="Text 6"/>
          <p:cNvSpPr/>
          <p:nvPr/>
        </p:nvSpPr>
        <p:spPr>
          <a:xfrm>
            <a:off x="2176272" y="3200400"/>
            <a:ext cx="1490472" cy="274320"/>
          </a:xfrm>
          <a:prstGeom prst="rect">
            <a:avLst/>
          </a:prstGeom>
          <a:noFill/>
          <a:ln/>
        </p:spPr>
        <p:txBody>
          <a:bodyPr wrap="square" lIns="0" tIns="0" rIns="0" bIns="0" rtlCol="0" anchor="ctr"/>
          <a:lstStyle/>
          <a:p>
            <a:pPr algn="ctr" indent="0" marL="0">
              <a:buNone/>
            </a:pPr>
            <a:r>
              <a:rPr lang="en-US" sz="950" spc="150" kern="0" dirty="0">
                <a:solidFill>
                  <a:srgbClr val="6E675A"/>
                </a:solidFill>
                <a:latin typeface="Noto Sans Mono CJK KR" pitchFamily="34" charset="0"/>
                <a:ea typeface="Noto Sans Mono CJK KR" pitchFamily="34" charset="-122"/>
                <a:cs typeface="Noto Sans Mono CJK KR" pitchFamily="34" charset="-120"/>
              </a:rPr>
              <a:t>라운드</a:t>
            </a:r>
            <a:endParaRPr lang="en-US" sz="950" dirty="0"/>
          </a:p>
        </p:txBody>
      </p:sp>
      <p:sp>
        <p:nvSpPr>
          <p:cNvPr id="9" name="Shape 7"/>
          <p:cNvSpPr/>
          <p:nvPr/>
        </p:nvSpPr>
        <p:spPr>
          <a:xfrm>
            <a:off x="3758184" y="2331720"/>
            <a:ext cx="0" cy="1371600"/>
          </a:xfrm>
          <a:prstGeom prst="line">
            <a:avLst/>
          </a:prstGeom>
          <a:noFill/>
          <a:ln w="9525">
            <a:solidFill>
              <a:srgbClr val="CFCBC1"/>
            </a:solidFill>
            <a:prstDash val="solid"/>
          </a:ln>
        </p:spPr>
      </p:sp>
      <p:sp>
        <p:nvSpPr>
          <p:cNvPr id="10" name="Text 8"/>
          <p:cNvSpPr/>
          <p:nvPr/>
        </p:nvSpPr>
        <p:spPr>
          <a:xfrm>
            <a:off x="3803904" y="2468880"/>
            <a:ext cx="1490472" cy="685800"/>
          </a:xfrm>
          <a:prstGeom prst="rect">
            <a:avLst/>
          </a:prstGeom>
          <a:noFill/>
          <a:ln/>
        </p:spPr>
        <p:txBody>
          <a:bodyPr wrap="square" lIns="0" tIns="0" rIns="0" bIns="0" rtlCol="0" anchor="ctr"/>
          <a:lstStyle/>
          <a:p>
            <a:pPr algn="ctr" indent="0" marL="0">
              <a:buNone/>
            </a:pPr>
            <a:r>
              <a:rPr lang="en-US" sz="3600" b="1" dirty="0">
                <a:solidFill>
                  <a:srgbClr val="1C1914"/>
                </a:solidFill>
                <a:latin typeface="Noto Serif CJK KR" pitchFamily="34" charset="0"/>
                <a:ea typeface="Noto Serif CJK KR" pitchFamily="34" charset="-122"/>
                <a:cs typeface="Noto Serif CJK KR" pitchFamily="34" charset="-120"/>
              </a:rPr>
              <a:t>358</a:t>
            </a:r>
            <a:endParaRPr lang="en-US" sz="3600" dirty="0"/>
          </a:p>
        </p:txBody>
      </p:sp>
      <p:sp>
        <p:nvSpPr>
          <p:cNvPr id="11" name="Text 9"/>
          <p:cNvSpPr/>
          <p:nvPr/>
        </p:nvSpPr>
        <p:spPr>
          <a:xfrm>
            <a:off x="3803904" y="3200400"/>
            <a:ext cx="1490472" cy="274320"/>
          </a:xfrm>
          <a:prstGeom prst="rect">
            <a:avLst/>
          </a:prstGeom>
          <a:noFill/>
          <a:ln/>
        </p:spPr>
        <p:txBody>
          <a:bodyPr wrap="square" lIns="0" tIns="0" rIns="0" bIns="0" rtlCol="0" anchor="ctr"/>
          <a:lstStyle/>
          <a:p>
            <a:pPr algn="ctr" indent="0" marL="0">
              <a:buNone/>
            </a:pPr>
            <a:r>
              <a:rPr lang="en-US" sz="950" spc="150" kern="0" dirty="0">
                <a:solidFill>
                  <a:srgbClr val="6E675A"/>
                </a:solidFill>
                <a:latin typeface="Noto Sans Mono CJK KR" pitchFamily="34" charset="0"/>
                <a:ea typeface="Noto Sans Mono CJK KR" pitchFamily="34" charset="-122"/>
                <a:cs typeface="Noto Sans Mono CJK KR" pitchFamily="34" charset="-120"/>
              </a:rPr>
              <a:t>일평균 시뮬</a:t>
            </a:r>
            <a:endParaRPr lang="en-US" sz="950" dirty="0"/>
          </a:p>
        </p:txBody>
      </p:sp>
      <p:sp>
        <p:nvSpPr>
          <p:cNvPr id="12" name="Shape 10"/>
          <p:cNvSpPr/>
          <p:nvPr/>
        </p:nvSpPr>
        <p:spPr>
          <a:xfrm>
            <a:off x="5385816" y="2331720"/>
            <a:ext cx="0" cy="1371600"/>
          </a:xfrm>
          <a:prstGeom prst="line">
            <a:avLst/>
          </a:prstGeom>
          <a:noFill/>
          <a:ln w="9525">
            <a:solidFill>
              <a:srgbClr val="CFCBC1"/>
            </a:solidFill>
            <a:prstDash val="solid"/>
          </a:ln>
        </p:spPr>
      </p:sp>
      <p:sp>
        <p:nvSpPr>
          <p:cNvPr id="13" name="Text 11"/>
          <p:cNvSpPr/>
          <p:nvPr/>
        </p:nvSpPr>
        <p:spPr>
          <a:xfrm>
            <a:off x="5431536" y="2468880"/>
            <a:ext cx="1490472" cy="685800"/>
          </a:xfrm>
          <a:prstGeom prst="rect">
            <a:avLst/>
          </a:prstGeom>
          <a:noFill/>
          <a:ln/>
        </p:spPr>
        <p:txBody>
          <a:bodyPr wrap="square" lIns="0" tIns="0" rIns="0" bIns="0" rtlCol="0" anchor="ctr"/>
          <a:lstStyle/>
          <a:p>
            <a:pPr algn="ctr" indent="0" marL="0">
              <a:buNone/>
            </a:pPr>
            <a:r>
              <a:rPr lang="en-US" sz="3600" b="1" dirty="0">
                <a:solidFill>
                  <a:srgbClr val="A63A22"/>
                </a:solidFill>
                <a:latin typeface="Noto Serif CJK KR" pitchFamily="34" charset="0"/>
                <a:ea typeface="Noto Serif CJK KR" pitchFamily="34" charset="-122"/>
                <a:cs typeface="Noto Serif CJK KR" pitchFamily="34" charset="-120"/>
              </a:rPr>
              <a:t>269</a:t>
            </a:r>
            <a:endParaRPr lang="en-US" sz="3600" dirty="0"/>
          </a:p>
        </p:txBody>
      </p:sp>
      <p:sp>
        <p:nvSpPr>
          <p:cNvPr id="14" name="Text 12"/>
          <p:cNvSpPr/>
          <p:nvPr/>
        </p:nvSpPr>
        <p:spPr>
          <a:xfrm>
            <a:off x="5431536" y="3200400"/>
            <a:ext cx="1490472" cy="274320"/>
          </a:xfrm>
          <a:prstGeom prst="rect">
            <a:avLst/>
          </a:prstGeom>
          <a:noFill/>
          <a:ln/>
        </p:spPr>
        <p:txBody>
          <a:bodyPr wrap="square" lIns="0" tIns="0" rIns="0" bIns="0" rtlCol="0" anchor="ctr"/>
          <a:lstStyle/>
          <a:p>
            <a:pPr algn="ctr" indent="0" marL="0">
              <a:buNone/>
            </a:pPr>
            <a:r>
              <a:rPr lang="en-US" sz="950" spc="150" kern="0" dirty="0">
                <a:solidFill>
                  <a:srgbClr val="6E675A"/>
                </a:solidFill>
                <a:latin typeface="Noto Sans Mono CJK KR" pitchFamily="34" charset="0"/>
                <a:ea typeface="Noto Sans Mono CJK KR" pitchFamily="34" charset="-122"/>
                <a:cs typeface="Noto Sans Mono CJK KR" pitchFamily="34" charset="-120"/>
              </a:rPr>
              <a:t>전 체크 통과</a:t>
            </a:r>
            <a:endParaRPr lang="en-US" sz="950" dirty="0"/>
          </a:p>
        </p:txBody>
      </p:sp>
      <p:sp>
        <p:nvSpPr>
          <p:cNvPr id="15" name="Shape 13"/>
          <p:cNvSpPr/>
          <p:nvPr/>
        </p:nvSpPr>
        <p:spPr>
          <a:xfrm>
            <a:off x="7013448" y="2331720"/>
            <a:ext cx="0" cy="1371600"/>
          </a:xfrm>
          <a:prstGeom prst="line">
            <a:avLst/>
          </a:prstGeom>
          <a:noFill/>
          <a:ln w="9525">
            <a:solidFill>
              <a:srgbClr val="CFCBC1"/>
            </a:solidFill>
            <a:prstDash val="solid"/>
          </a:ln>
        </p:spPr>
      </p:sp>
      <p:sp>
        <p:nvSpPr>
          <p:cNvPr id="16" name="Text 14"/>
          <p:cNvSpPr/>
          <p:nvPr/>
        </p:nvSpPr>
        <p:spPr>
          <a:xfrm>
            <a:off x="7059168" y="2468880"/>
            <a:ext cx="1490472" cy="685800"/>
          </a:xfrm>
          <a:prstGeom prst="rect">
            <a:avLst/>
          </a:prstGeom>
          <a:noFill/>
          <a:ln/>
        </p:spPr>
        <p:txBody>
          <a:bodyPr wrap="square" lIns="0" tIns="0" rIns="0" bIns="0" rtlCol="0" anchor="ctr"/>
          <a:lstStyle/>
          <a:p>
            <a:pPr algn="ctr" indent="0" marL="0">
              <a:buNone/>
            </a:pPr>
            <a:r>
              <a:rPr lang="en-US" sz="3600" b="1" dirty="0">
                <a:solidFill>
                  <a:srgbClr val="1C1914"/>
                </a:solidFill>
                <a:latin typeface="Noto Serif CJK KR" pitchFamily="34" charset="0"/>
                <a:ea typeface="Noto Serif CJK KR" pitchFamily="34" charset="-122"/>
                <a:cs typeface="Noto Serif CJK KR" pitchFamily="34" charset="-120"/>
              </a:rPr>
              <a:t>34</a:t>
            </a:r>
            <a:endParaRPr lang="en-US" sz="3600" dirty="0"/>
          </a:p>
        </p:txBody>
      </p:sp>
      <p:sp>
        <p:nvSpPr>
          <p:cNvPr id="17" name="Text 15"/>
          <p:cNvSpPr/>
          <p:nvPr/>
        </p:nvSpPr>
        <p:spPr>
          <a:xfrm>
            <a:off x="7059168" y="3200400"/>
            <a:ext cx="1490472" cy="274320"/>
          </a:xfrm>
          <a:prstGeom prst="rect">
            <a:avLst/>
          </a:prstGeom>
          <a:noFill/>
          <a:ln/>
        </p:spPr>
        <p:txBody>
          <a:bodyPr wrap="square" lIns="0" tIns="0" rIns="0" bIns="0" rtlCol="0" anchor="ctr"/>
          <a:lstStyle/>
          <a:p>
            <a:pPr algn="ctr" indent="0" marL="0">
              <a:buNone/>
            </a:pPr>
            <a:r>
              <a:rPr lang="en-US" sz="950" spc="150" kern="0" dirty="0">
                <a:solidFill>
                  <a:srgbClr val="6E675A"/>
                </a:solidFill>
                <a:latin typeface="Noto Sans Mono CJK KR" pitchFamily="34" charset="0"/>
                <a:ea typeface="Noto Sans Mono CJK KR" pitchFamily="34" charset="-122"/>
                <a:cs typeface="Noto Sans Mono CJK KR" pitchFamily="34" charset="-120"/>
              </a:rPr>
              <a:t>제출</a:t>
            </a:r>
            <a:endParaRPr lang="en-US" sz="950" dirty="0"/>
          </a:p>
        </p:txBody>
      </p:sp>
      <p:sp>
        <p:nvSpPr>
          <p:cNvPr id="18" name="Text 16"/>
          <p:cNvSpPr/>
          <p:nvPr/>
        </p:nvSpPr>
        <p:spPr>
          <a:xfrm>
            <a:off x="502920" y="4160520"/>
            <a:ext cx="8138160" cy="274320"/>
          </a:xfrm>
          <a:prstGeom prst="rect">
            <a:avLst/>
          </a:prstGeom>
          <a:noFill/>
          <a:ln/>
        </p:spPr>
        <p:txBody>
          <a:bodyPr wrap="square" lIns="0" tIns="0" rIns="0" bIns="0" rtlCol="0" anchor="ctr"/>
          <a:lstStyle/>
          <a:p>
            <a:pPr algn="ctr" indent="0" marL="0">
              <a:buNone/>
            </a:pPr>
            <a:r>
              <a:rPr lang="en-US" sz="1050" dirty="0">
                <a:solidFill>
                  <a:srgbClr val="6E675A"/>
                </a:solidFill>
                <a:latin typeface="Noto Sans CJK KR" pitchFamily="34" charset="0"/>
                <a:ea typeface="Noto Sans CJK KR" pitchFamily="34" charset="-122"/>
                <a:cs typeface="Noto Sans CJK KR" pitchFamily="34" charset="-120"/>
              </a:rPr>
              <a:t>5월 9일 ~ 7월 31일 · 시뮬 결과 원장(SQLite) 실측 — 설정 조합 2,096종을 탐색했습니다</a:t>
            </a:r>
            <a:endParaRPr lang="en-US" sz="1050" dirty="0"/>
          </a:p>
        </p:txBody>
      </p:sp>
      <p:sp>
        <p:nvSpPr>
          <p:cNvPr id="19" name="Shape 17"/>
          <p:cNvSpPr/>
          <p:nvPr/>
        </p:nvSpPr>
        <p:spPr>
          <a:xfrm>
            <a:off x="502920" y="4828032"/>
            <a:ext cx="8138160" cy="0"/>
          </a:xfrm>
          <a:prstGeom prst="line">
            <a:avLst/>
          </a:prstGeom>
          <a:noFill/>
          <a:ln w="9525">
            <a:solidFill>
              <a:srgbClr val="CFCBC1"/>
            </a:solidFill>
            <a:prstDash val="solid"/>
          </a:ln>
        </p:spPr>
      </p:sp>
      <p:sp>
        <p:nvSpPr>
          <p:cNvPr id="20" name="Text 18"/>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21" name="Text 19"/>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07 · DIVERSITY</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시뮬의 80%가 두 패밀리에 쏠려 있었습니다 —</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오늘부터 여섯 패밀리로 강제 분산합니다</a:t>
            </a:r>
            <a:endParaRPr lang="en-US" sz="2300" dirty="0"/>
          </a:p>
        </p:txBody>
      </p:sp>
      <p:graphicFrame>
        <p:nvGraphicFramePr>
          <p:cNvPr id="4" name="Chart 0" descr=""/>
          <p:cNvGraphicFramePr/>
          <p:nvPr/>
        </p:nvGraphicFramePr>
        <p:xfrm>
          <a:off x="457200" y="1783080"/>
          <a:ext cx="4663440" cy="2788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40680" y="2020824"/>
            <a:ext cx="82296" cy="82296"/>
          </a:xfrm>
          <a:prstGeom prst="rect">
            <a:avLst/>
          </a:prstGeom>
          <a:solidFill>
            <a:srgbClr val="4A443A"/>
          </a:solidFill>
          <a:ln/>
        </p:spPr>
      </p:sp>
      <p:sp>
        <p:nvSpPr>
          <p:cNvPr id="6" name="Text 3"/>
          <p:cNvSpPr/>
          <p:nvPr/>
        </p:nvSpPr>
        <p:spPr>
          <a:xfrm>
            <a:off x="5623560" y="1965960"/>
            <a:ext cx="3017520" cy="256032"/>
          </a:xfrm>
          <a:prstGeom prst="rect">
            <a:avLst/>
          </a:prstGeom>
          <a:noFill/>
          <a:ln/>
        </p:spPr>
        <p:txBody>
          <a:bodyPr wrap="square" lIns="0" tIns="0" rIns="0" bIns="0" rtlCol="0" anchor="ctr"/>
          <a:lstStyle/>
          <a:p>
            <a:pPr indent="0" marL="0">
              <a:buNone/>
            </a:pPr>
            <a:r>
              <a:rPr lang="en-US" sz="1250" b="1" dirty="0">
                <a:solidFill>
                  <a:srgbClr val="1C1914"/>
                </a:solidFill>
                <a:latin typeface="Noto Serif CJK KR" pitchFamily="34" charset="0"/>
                <a:ea typeface="Noto Serif CJK KR" pitchFamily="34" charset="-122"/>
                <a:cs typeface="Noto Serif CJK KR" pitchFamily="34" charset="-120"/>
              </a:rPr>
              <a:t>팔레트 반반 규칙</a:t>
            </a:r>
            <a:endParaRPr lang="en-US" sz="1250" dirty="0"/>
          </a:p>
        </p:txBody>
      </p:sp>
      <p:sp>
        <p:nvSpPr>
          <p:cNvPr id="7" name="Text 4"/>
          <p:cNvSpPr/>
          <p:nvPr/>
        </p:nvSpPr>
        <p:spPr>
          <a:xfrm>
            <a:off x="5623560" y="2240280"/>
            <a:ext cx="3017520" cy="530352"/>
          </a:xfrm>
          <a:prstGeom prst="rect">
            <a:avLst/>
          </a:prstGeom>
          <a:noFill/>
          <a:ln/>
        </p:spPr>
        <p:txBody>
          <a:bodyPr wrap="square" lIns="0" tIns="0" rIns="0" bIns="0" rtlCol="0" anchor="t"/>
          <a:lstStyle/>
          <a:p>
            <a:pPr indent="0" marL="0">
              <a:lnSpc>
                <a:spcPct val="118000"/>
              </a:lnSpc>
              <a:buNone/>
            </a:pPr>
            <a:r>
              <a:rPr lang="en-US" sz="1000" dirty="0">
                <a:solidFill>
                  <a:srgbClr val="4A443A"/>
                </a:solidFill>
                <a:latin typeface="Noto Sans CJK KR" pitchFamily="34" charset="0"/>
                <a:ea typeface="Noto Sans CJK KR" pitchFamily="34" charset="-122"/>
                <a:cs typeface="Noto Sans CJK KR" pitchFamily="34" charset="-120"/>
              </a:rPr>
              <a:t>필드 풀의 절반은 검증된 필드, 절반은 미발굴 필드로 강제합니다</a:t>
            </a:r>
            <a:endParaRPr lang="en-US" sz="1000" dirty="0"/>
          </a:p>
        </p:txBody>
      </p:sp>
      <p:sp>
        <p:nvSpPr>
          <p:cNvPr id="8" name="Shape 5"/>
          <p:cNvSpPr/>
          <p:nvPr/>
        </p:nvSpPr>
        <p:spPr>
          <a:xfrm>
            <a:off x="5440680" y="2916936"/>
            <a:ext cx="82296" cy="82296"/>
          </a:xfrm>
          <a:prstGeom prst="rect">
            <a:avLst/>
          </a:prstGeom>
          <a:solidFill>
            <a:srgbClr val="4A443A"/>
          </a:solidFill>
          <a:ln/>
        </p:spPr>
      </p:sp>
      <p:sp>
        <p:nvSpPr>
          <p:cNvPr id="9" name="Text 6"/>
          <p:cNvSpPr/>
          <p:nvPr/>
        </p:nvSpPr>
        <p:spPr>
          <a:xfrm>
            <a:off x="5623560" y="2862072"/>
            <a:ext cx="3017520" cy="256032"/>
          </a:xfrm>
          <a:prstGeom prst="rect">
            <a:avLst/>
          </a:prstGeom>
          <a:noFill/>
          <a:ln/>
        </p:spPr>
        <p:txBody>
          <a:bodyPr wrap="square" lIns="0" tIns="0" rIns="0" bIns="0" rtlCol="0" anchor="ctr"/>
          <a:lstStyle/>
          <a:p>
            <a:pPr indent="0" marL="0">
              <a:buNone/>
            </a:pPr>
            <a:r>
              <a:rPr lang="en-US" sz="1250" b="1" dirty="0">
                <a:solidFill>
                  <a:srgbClr val="1C1914"/>
                </a:solidFill>
                <a:latin typeface="Noto Serif CJK KR" pitchFamily="34" charset="0"/>
                <a:ea typeface="Noto Serif CJK KR" pitchFamily="34" charset="-122"/>
                <a:cs typeface="Noto Serif CJK KR" pitchFamily="34" charset="-120"/>
              </a:rPr>
              <a:t>저사용 필드 = 저평가</a:t>
            </a:r>
            <a:endParaRPr lang="en-US" sz="1250" dirty="0"/>
          </a:p>
        </p:txBody>
      </p:sp>
      <p:sp>
        <p:nvSpPr>
          <p:cNvPr id="10" name="Text 7"/>
          <p:cNvSpPr/>
          <p:nvPr/>
        </p:nvSpPr>
        <p:spPr>
          <a:xfrm>
            <a:off x="5623560" y="3136392"/>
            <a:ext cx="3017520" cy="530352"/>
          </a:xfrm>
          <a:prstGeom prst="rect">
            <a:avLst/>
          </a:prstGeom>
          <a:noFill/>
          <a:ln/>
        </p:spPr>
        <p:txBody>
          <a:bodyPr wrap="square" lIns="0" tIns="0" rIns="0" bIns="0" rtlCol="0" anchor="t"/>
          <a:lstStyle/>
          <a:p>
            <a:pPr indent="0" marL="0">
              <a:lnSpc>
                <a:spcPct val="118000"/>
              </a:lnSpc>
              <a:buNone/>
            </a:pPr>
            <a:r>
              <a:rPr lang="en-US" sz="1000" dirty="0">
                <a:solidFill>
                  <a:srgbClr val="4A443A"/>
                </a:solidFill>
                <a:latin typeface="Noto Sans CJK KR" pitchFamily="34" charset="0"/>
                <a:ea typeface="Noto Sans CJK KR" pitchFamily="34" charset="-122"/>
                <a:cs typeface="Noto Sans CJK KR" pitchFamily="34" charset="-120"/>
              </a:rPr>
              <a:t>알파카운트가 낮은 필드는 나쁜 게 아니라 최근 온보딩됐거나 남들이 안 본 필드입니다</a:t>
            </a:r>
            <a:endParaRPr lang="en-US" sz="1000" dirty="0"/>
          </a:p>
        </p:txBody>
      </p:sp>
      <p:sp>
        <p:nvSpPr>
          <p:cNvPr id="11" name="Shape 8"/>
          <p:cNvSpPr/>
          <p:nvPr/>
        </p:nvSpPr>
        <p:spPr>
          <a:xfrm>
            <a:off x="5440680" y="3813048"/>
            <a:ext cx="82296" cy="82296"/>
          </a:xfrm>
          <a:prstGeom prst="rect">
            <a:avLst/>
          </a:prstGeom>
          <a:solidFill>
            <a:srgbClr val="A63A22"/>
          </a:solidFill>
          <a:ln/>
        </p:spPr>
      </p:sp>
      <p:sp>
        <p:nvSpPr>
          <p:cNvPr id="12" name="Text 9"/>
          <p:cNvSpPr/>
          <p:nvPr/>
        </p:nvSpPr>
        <p:spPr>
          <a:xfrm>
            <a:off x="5623560" y="3758184"/>
            <a:ext cx="3017520" cy="256032"/>
          </a:xfrm>
          <a:prstGeom prst="rect">
            <a:avLst/>
          </a:prstGeom>
          <a:noFill/>
          <a:ln/>
        </p:spPr>
        <p:txBody>
          <a:bodyPr wrap="square" lIns="0" tIns="0" rIns="0" bIns="0" rtlCol="0" anchor="ctr"/>
          <a:lstStyle/>
          <a:p>
            <a:pPr indent="0" marL="0">
              <a:buNone/>
            </a:pPr>
            <a:r>
              <a:rPr lang="en-US" sz="1250" b="1" dirty="0">
                <a:solidFill>
                  <a:srgbClr val="8C2F1A"/>
                </a:solidFill>
                <a:latin typeface="Noto Serif CJK KR" pitchFamily="34" charset="0"/>
                <a:ea typeface="Noto Serif CJK KR" pitchFamily="34" charset="-122"/>
                <a:cs typeface="Noto Serif CJK KR" pitchFamily="34" charset="-120"/>
              </a:rPr>
              <a:t>오늘의 조치</a:t>
            </a:r>
            <a:endParaRPr lang="en-US" sz="1250" dirty="0"/>
          </a:p>
        </p:txBody>
      </p:sp>
      <p:sp>
        <p:nvSpPr>
          <p:cNvPr id="13" name="Text 10"/>
          <p:cNvSpPr/>
          <p:nvPr/>
        </p:nvSpPr>
        <p:spPr>
          <a:xfrm>
            <a:off x="5623560" y="4032504"/>
            <a:ext cx="3017520" cy="530352"/>
          </a:xfrm>
          <a:prstGeom prst="rect">
            <a:avLst/>
          </a:prstGeom>
          <a:noFill/>
          <a:ln/>
        </p:spPr>
        <p:txBody>
          <a:bodyPr wrap="square" lIns="0" tIns="0" rIns="0" bIns="0" rtlCol="0" anchor="t"/>
          <a:lstStyle/>
          <a:p>
            <a:pPr indent="0" marL="0">
              <a:lnSpc>
                <a:spcPct val="118000"/>
              </a:lnSpc>
              <a:buNone/>
            </a:pPr>
            <a:r>
              <a:rPr lang="en-US" sz="1000" dirty="0">
                <a:solidFill>
                  <a:srgbClr val="4A443A"/>
                </a:solidFill>
                <a:latin typeface="Noto Sans CJK KR" pitchFamily="34" charset="0"/>
                <a:ea typeface="Noto Sans CJK KR" pitchFamily="34" charset="-122"/>
                <a:cs typeface="Noto Sans CJK KR" pitchFamily="34" charset="-120"/>
              </a:rPr>
              <a:t>애널리스트·펀더멘털·뉴스 강신호 시드 8종을 직접 주입했습니다</a:t>
            </a:r>
            <a:endParaRPr lang="en-US" sz="1000" dirty="0"/>
          </a:p>
        </p:txBody>
      </p:sp>
      <p:sp>
        <p:nvSpPr>
          <p:cNvPr id="14" name="Shape 11"/>
          <p:cNvSpPr/>
          <p:nvPr/>
        </p:nvSpPr>
        <p:spPr>
          <a:xfrm>
            <a:off x="502920" y="4828032"/>
            <a:ext cx="8138160" cy="0"/>
          </a:xfrm>
          <a:prstGeom prst="line">
            <a:avLst/>
          </a:prstGeom>
          <a:noFill/>
          <a:ln w="9525">
            <a:solidFill>
              <a:srgbClr val="CFCBC1"/>
            </a:solidFill>
            <a:prstDash val="solid"/>
          </a:ln>
        </p:spPr>
      </p:sp>
      <p:sp>
        <p:nvSpPr>
          <p:cNvPr id="15" name="Text 12"/>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16" name="Text 13"/>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08 · GUARDRAILS</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빨리 만드는 것보다,</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과적합을 걸러내는 장치가 먼저입니다</a:t>
            </a:r>
            <a:endParaRPr lang="en-US" sz="2300" dirty="0"/>
          </a:p>
        </p:txBody>
      </p:sp>
      <p:sp>
        <p:nvSpPr>
          <p:cNvPr id="4" name="Text 2"/>
          <p:cNvSpPr/>
          <p:nvPr/>
        </p:nvSpPr>
        <p:spPr>
          <a:xfrm>
            <a:off x="502920" y="1920240"/>
            <a:ext cx="457200" cy="365760"/>
          </a:xfrm>
          <a:prstGeom prst="rect">
            <a:avLst/>
          </a:prstGeom>
          <a:noFill/>
          <a:ln/>
        </p:spPr>
        <p:txBody>
          <a:bodyPr wrap="square" lIns="0" tIns="0" rIns="0" bIns="0" rtlCol="0" anchor="ctr"/>
          <a:lstStyle/>
          <a:p>
            <a:pPr indent="0" marL="0">
              <a:buNone/>
            </a:pPr>
            <a:r>
              <a:rPr lang="en-US" sz="1500" b="1" dirty="0">
                <a:solidFill>
                  <a:srgbClr val="6E675A"/>
                </a:solidFill>
                <a:latin typeface="Noto Sans Mono CJK KR" pitchFamily="34" charset="0"/>
                <a:ea typeface="Noto Sans Mono CJK KR" pitchFamily="34" charset="-122"/>
                <a:cs typeface="Noto Sans Mono CJK KR" pitchFamily="34" charset="-120"/>
              </a:rPr>
              <a:t>01</a:t>
            </a:r>
            <a:endParaRPr lang="en-US" sz="1500" dirty="0"/>
          </a:p>
        </p:txBody>
      </p:sp>
      <p:sp>
        <p:nvSpPr>
          <p:cNvPr id="5" name="Text 3"/>
          <p:cNvSpPr/>
          <p:nvPr/>
        </p:nvSpPr>
        <p:spPr>
          <a:xfrm>
            <a:off x="1005840" y="1920240"/>
            <a:ext cx="2377440" cy="502920"/>
          </a:xfrm>
          <a:prstGeom prst="rect">
            <a:avLst/>
          </a:prstGeom>
          <a:noFill/>
          <a:ln/>
        </p:spPr>
        <p:txBody>
          <a:bodyPr wrap="square" lIns="0" tIns="0" rIns="0" bIns="0" rtlCol="0" anchor="t"/>
          <a:lstStyle/>
          <a:p>
            <a:pPr indent="0" marL="0">
              <a:buNone/>
            </a:pPr>
            <a:r>
              <a:rPr lang="en-US" sz="1250" b="1" dirty="0">
                <a:solidFill>
                  <a:srgbClr val="1C1914"/>
                </a:solidFill>
                <a:latin typeface="Noto Serif CJK KR" pitchFamily="34" charset="0"/>
                <a:ea typeface="Noto Serif CJK KR" pitchFamily="34" charset="-122"/>
                <a:cs typeface="Noto Serif CJK KR" pitchFamily="34" charset="-120"/>
              </a:rPr>
              <a:t>표준 시간창만 허용</a:t>
            </a:r>
            <a:endParaRPr lang="en-US" sz="1250" dirty="0"/>
          </a:p>
        </p:txBody>
      </p:sp>
      <p:sp>
        <p:nvSpPr>
          <p:cNvPr id="6" name="Text 4"/>
          <p:cNvSpPr/>
          <p:nvPr/>
        </p:nvSpPr>
        <p:spPr>
          <a:xfrm>
            <a:off x="3520440" y="1920240"/>
            <a:ext cx="5120640" cy="566928"/>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룩백은 2·3·5·10·20·60·120·252일의 8종뿐입니다. 37일·80일 같은 '데이터에 맞춘 창'은 유전자 단계에서 금지됩니다.</a:t>
            </a:r>
            <a:endParaRPr lang="en-US" sz="1050" dirty="0"/>
          </a:p>
        </p:txBody>
      </p:sp>
      <p:sp>
        <p:nvSpPr>
          <p:cNvPr id="7" name="Shape 5"/>
          <p:cNvSpPr/>
          <p:nvPr/>
        </p:nvSpPr>
        <p:spPr>
          <a:xfrm>
            <a:off x="1005840" y="2487168"/>
            <a:ext cx="7635240" cy="0"/>
          </a:xfrm>
          <a:prstGeom prst="line">
            <a:avLst/>
          </a:prstGeom>
          <a:noFill/>
          <a:ln w="9525">
            <a:solidFill>
              <a:srgbClr val="CFCBC1"/>
            </a:solidFill>
            <a:prstDash val="solid"/>
          </a:ln>
        </p:spPr>
      </p:sp>
      <p:sp>
        <p:nvSpPr>
          <p:cNvPr id="8" name="Text 6"/>
          <p:cNvSpPr/>
          <p:nvPr/>
        </p:nvSpPr>
        <p:spPr>
          <a:xfrm>
            <a:off x="502920" y="2578608"/>
            <a:ext cx="457200" cy="365760"/>
          </a:xfrm>
          <a:prstGeom prst="rect">
            <a:avLst/>
          </a:prstGeom>
          <a:noFill/>
          <a:ln/>
        </p:spPr>
        <p:txBody>
          <a:bodyPr wrap="square" lIns="0" tIns="0" rIns="0" bIns="0" rtlCol="0" anchor="ctr"/>
          <a:lstStyle/>
          <a:p>
            <a:pPr indent="0" marL="0">
              <a:buNone/>
            </a:pPr>
            <a:r>
              <a:rPr lang="en-US" sz="1500" b="1" dirty="0">
                <a:solidFill>
                  <a:srgbClr val="6E675A"/>
                </a:solidFill>
                <a:latin typeface="Noto Sans Mono CJK KR" pitchFamily="34" charset="0"/>
                <a:ea typeface="Noto Sans Mono CJK KR" pitchFamily="34" charset="-122"/>
                <a:cs typeface="Noto Sans Mono CJK KR" pitchFamily="34" charset="-120"/>
              </a:rPr>
              <a:t>02</a:t>
            </a:r>
            <a:endParaRPr lang="en-US" sz="1500" dirty="0"/>
          </a:p>
        </p:txBody>
      </p:sp>
      <p:sp>
        <p:nvSpPr>
          <p:cNvPr id="9" name="Text 7"/>
          <p:cNvSpPr/>
          <p:nvPr/>
        </p:nvSpPr>
        <p:spPr>
          <a:xfrm>
            <a:off x="1005840" y="2578608"/>
            <a:ext cx="2377440" cy="502920"/>
          </a:xfrm>
          <a:prstGeom prst="rect">
            <a:avLst/>
          </a:prstGeom>
          <a:noFill/>
          <a:ln/>
        </p:spPr>
        <p:txBody>
          <a:bodyPr wrap="square" lIns="0" tIns="0" rIns="0" bIns="0" rtlCol="0" anchor="t"/>
          <a:lstStyle/>
          <a:p>
            <a:pPr indent="0" marL="0">
              <a:buNone/>
            </a:pPr>
            <a:r>
              <a:rPr lang="en-US" sz="1250" b="1" dirty="0">
                <a:solidFill>
                  <a:srgbClr val="1C1914"/>
                </a:solidFill>
                <a:latin typeface="Noto Serif CJK KR" pitchFamily="34" charset="0"/>
                <a:ea typeface="Noto Serif CJK KR" pitchFamily="34" charset="-122"/>
                <a:cs typeface="Noto Serif CJK KR" pitchFamily="34" charset="-120"/>
              </a:rPr>
              <a:t>한 축 스윕</a:t>
            </a:r>
            <a:endParaRPr lang="en-US" sz="1250" dirty="0"/>
          </a:p>
        </p:txBody>
      </p:sp>
      <p:sp>
        <p:nvSpPr>
          <p:cNvPr id="10" name="Text 8"/>
          <p:cNvSpPr/>
          <p:nvPr/>
        </p:nvSpPr>
        <p:spPr>
          <a:xfrm>
            <a:off x="3520440" y="2578608"/>
            <a:ext cx="5120640" cy="566928"/>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비교 실험은 언제나 변수 하나만 바꿉니다. 우연히 좋아진 것과 이유가 있어 좋아진 것을 구분합니다.</a:t>
            </a:r>
            <a:endParaRPr lang="en-US" sz="1050" dirty="0"/>
          </a:p>
        </p:txBody>
      </p:sp>
      <p:sp>
        <p:nvSpPr>
          <p:cNvPr id="11" name="Shape 9"/>
          <p:cNvSpPr/>
          <p:nvPr/>
        </p:nvSpPr>
        <p:spPr>
          <a:xfrm>
            <a:off x="1005840" y="3145536"/>
            <a:ext cx="7635240" cy="0"/>
          </a:xfrm>
          <a:prstGeom prst="line">
            <a:avLst/>
          </a:prstGeom>
          <a:noFill/>
          <a:ln w="9525">
            <a:solidFill>
              <a:srgbClr val="CFCBC1"/>
            </a:solidFill>
            <a:prstDash val="solid"/>
          </a:ln>
        </p:spPr>
      </p:sp>
      <p:sp>
        <p:nvSpPr>
          <p:cNvPr id="12" name="Text 10"/>
          <p:cNvSpPr/>
          <p:nvPr/>
        </p:nvSpPr>
        <p:spPr>
          <a:xfrm>
            <a:off x="502920" y="3236976"/>
            <a:ext cx="457200" cy="365760"/>
          </a:xfrm>
          <a:prstGeom prst="rect">
            <a:avLst/>
          </a:prstGeom>
          <a:noFill/>
          <a:ln/>
        </p:spPr>
        <p:txBody>
          <a:bodyPr wrap="square" lIns="0" tIns="0" rIns="0" bIns="0" rtlCol="0" anchor="ctr"/>
          <a:lstStyle/>
          <a:p>
            <a:pPr indent="0" marL="0">
              <a:buNone/>
            </a:pPr>
            <a:r>
              <a:rPr lang="en-US" sz="1500" b="1" dirty="0">
                <a:solidFill>
                  <a:srgbClr val="6E675A"/>
                </a:solidFill>
                <a:latin typeface="Noto Sans Mono CJK KR" pitchFamily="34" charset="0"/>
                <a:ea typeface="Noto Sans Mono CJK KR" pitchFamily="34" charset="-122"/>
                <a:cs typeface="Noto Sans Mono CJK KR" pitchFamily="34" charset="-120"/>
              </a:rPr>
              <a:t>03</a:t>
            </a:r>
            <a:endParaRPr lang="en-US" sz="1500" dirty="0"/>
          </a:p>
        </p:txBody>
      </p:sp>
      <p:sp>
        <p:nvSpPr>
          <p:cNvPr id="13" name="Text 11"/>
          <p:cNvSpPr/>
          <p:nvPr/>
        </p:nvSpPr>
        <p:spPr>
          <a:xfrm>
            <a:off x="1005840" y="3236976"/>
            <a:ext cx="2377440" cy="502920"/>
          </a:xfrm>
          <a:prstGeom prst="rect">
            <a:avLst/>
          </a:prstGeom>
          <a:noFill/>
          <a:ln/>
        </p:spPr>
        <p:txBody>
          <a:bodyPr wrap="square" lIns="0" tIns="0" rIns="0" bIns="0" rtlCol="0" anchor="t"/>
          <a:lstStyle/>
          <a:p>
            <a:pPr indent="0" marL="0">
              <a:buNone/>
            </a:pPr>
            <a:r>
              <a:rPr lang="en-US" sz="1250" b="1" dirty="0">
                <a:solidFill>
                  <a:srgbClr val="1C1914"/>
                </a:solidFill>
                <a:latin typeface="Noto Serif CJK KR" pitchFamily="34" charset="0"/>
                <a:ea typeface="Noto Serif CJK KR" pitchFamily="34" charset="-122"/>
                <a:cs typeface="Noto Serif CJK KR" pitchFamily="34" charset="-120"/>
              </a:rPr>
              <a:t>상관벽</a:t>
            </a:r>
            <a:endParaRPr lang="en-US" sz="1250" dirty="0"/>
          </a:p>
        </p:txBody>
      </p:sp>
      <p:sp>
        <p:nvSpPr>
          <p:cNvPr id="14" name="Text 12"/>
          <p:cNvSpPr/>
          <p:nvPr/>
        </p:nvSpPr>
        <p:spPr>
          <a:xfrm>
            <a:off x="3520440" y="3236976"/>
            <a:ext cx="5120640" cy="566928"/>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자기상관이 높은 후보와 같은 라운드의 형제 중복은 제출 전에 차단합니다. 비슷한 알파를 쏟아내지 않습니다.</a:t>
            </a:r>
            <a:endParaRPr lang="en-US" sz="1050" dirty="0"/>
          </a:p>
        </p:txBody>
      </p:sp>
      <p:sp>
        <p:nvSpPr>
          <p:cNvPr id="15" name="Shape 13"/>
          <p:cNvSpPr/>
          <p:nvPr/>
        </p:nvSpPr>
        <p:spPr>
          <a:xfrm>
            <a:off x="1005840" y="3803904"/>
            <a:ext cx="7635240" cy="0"/>
          </a:xfrm>
          <a:prstGeom prst="line">
            <a:avLst/>
          </a:prstGeom>
          <a:noFill/>
          <a:ln w="9525">
            <a:solidFill>
              <a:srgbClr val="CFCBC1"/>
            </a:solidFill>
            <a:prstDash val="solid"/>
          </a:ln>
        </p:spPr>
      </p:sp>
      <p:sp>
        <p:nvSpPr>
          <p:cNvPr id="16" name="Text 14"/>
          <p:cNvSpPr/>
          <p:nvPr/>
        </p:nvSpPr>
        <p:spPr>
          <a:xfrm>
            <a:off x="502920" y="3895344"/>
            <a:ext cx="457200" cy="365760"/>
          </a:xfrm>
          <a:prstGeom prst="rect">
            <a:avLst/>
          </a:prstGeom>
          <a:noFill/>
          <a:ln/>
        </p:spPr>
        <p:txBody>
          <a:bodyPr wrap="square" lIns="0" tIns="0" rIns="0" bIns="0" rtlCol="0" anchor="ctr"/>
          <a:lstStyle/>
          <a:p>
            <a:pPr indent="0" marL="0">
              <a:buNone/>
            </a:pPr>
            <a:r>
              <a:rPr lang="en-US" sz="1500" b="1" dirty="0">
                <a:solidFill>
                  <a:srgbClr val="6E675A"/>
                </a:solidFill>
                <a:latin typeface="Noto Sans Mono CJK KR" pitchFamily="34" charset="0"/>
                <a:ea typeface="Noto Sans Mono CJK KR" pitchFamily="34" charset="-122"/>
                <a:cs typeface="Noto Sans Mono CJK KR" pitchFamily="34" charset="-120"/>
              </a:rPr>
              <a:t>04</a:t>
            </a:r>
            <a:endParaRPr lang="en-US" sz="1500" dirty="0"/>
          </a:p>
        </p:txBody>
      </p:sp>
      <p:sp>
        <p:nvSpPr>
          <p:cNvPr id="17" name="Text 15"/>
          <p:cNvSpPr/>
          <p:nvPr/>
        </p:nvSpPr>
        <p:spPr>
          <a:xfrm>
            <a:off x="1005840" y="3895344"/>
            <a:ext cx="2377440" cy="502920"/>
          </a:xfrm>
          <a:prstGeom prst="rect">
            <a:avLst/>
          </a:prstGeom>
          <a:noFill/>
          <a:ln/>
        </p:spPr>
        <p:txBody>
          <a:bodyPr wrap="square" lIns="0" tIns="0" rIns="0" bIns="0" rtlCol="0" anchor="t"/>
          <a:lstStyle/>
          <a:p>
            <a:pPr indent="0" marL="0">
              <a:buNone/>
            </a:pPr>
            <a:r>
              <a:rPr lang="en-US" sz="1250" b="1" dirty="0">
                <a:solidFill>
                  <a:srgbClr val="1C1914"/>
                </a:solidFill>
                <a:latin typeface="Noto Serif CJK KR" pitchFamily="34" charset="0"/>
                <a:ea typeface="Noto Serif CJK KR" pitchFamily="34" charset="-122"/>
                <a:cs typeface="Noto Serif CJK KR" pitchFamily="34" charset="-120"/>
              </a:rPr>
              <a:t>차단 FAIL 사전 게이트</a:t>
            </a:r>
            <a:endParaRPr lang="en-US" sz="1250" dirty="0"/>
          </a:p>
        </p:txBody>
      </p:sp>
      <p:sp>
        <p:nvSpPr>
          <p:cNvPr id="18" name="Text 16"/>
          <p:cNvSpPr/>
          <p:nvPr/>
        </p:nvSpPr>
        <p:spPr>
          <a:xfrm>
            <a:off x="3520440" y="3895344"/>
            <a:ext cx="5120640" cy="566928"/>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11개 체크 중 확정 탈락이 있으면 제출을 시도하지 않습니다. 하루 4건 제출 예산을 아낍니다.</a:t>
            </a:r>
            <a:endParaRPr lang="en-US" sz="1050" dirty="0"/>
          </a:p>
        </p:txBody>
      </p:sp>
      <p:sp>
        <p:nvSpPr>
          <p:cNvPr id="19" name="Shape 17"/>
          <p:cNvSpPr/>
          <p:nvPr/>
        </p:nvSpPr>
        <p:spPr>
          <a:xfrm>
            <a:off x="502920" y="4517136"/>
            <a:ext cx="82296" cy="82296"/>
          </a:xfrm>
          <a:prstGeom prst="rect">
            <a:avLst/>
          </a:prstGeom>
          <a:solidFill>
            <a:srgbClr val="A63A22"/>
          </a:solidFill>
          <a:ln/>
        </p:spPr>
      </p:sp>
      <p:sp>
        <p:nvSpPr>
          <p:cNvPr id="20" name="Text 18"/>
          <p:cNvSpPr/>
          <p:nvPr/>
        </p:nvSpPr>
        <p:spPr>
          <a:xfrm>
            <a:off x="685800" y="4407408"/>
            <a:ext cx="7955280" cy="320040"/>
          </a:xfrm>
          <a:prstGeom prst="rect">
            <a:avLst/>
          </a:prstGeom>
          <a:noFill/>
          <a:ln/>
        </p:spPr>
        <p:txBody>
          <a:bodyPr wrap="square" lIns="0" tIns="0" rIns="0" bIns="0" rtlCol="0" anchor="ctr"/>
          <a:lstStyle/>
          <a:p>
            <a:pPr indent="0" marL="0">
              <a:buNone/>
            </a:pPr>
            <a:r>
              <a:rPr lang="en-US" sz="1200" b="1" dirty="0">
                <a:solidFill>
                  <a:srgbClr val="1C1914"/>
                </a:solidFill>
                <a:latin typeface="Noto Sans CJK KR" pitchFamily="34" charset="0"/>
                <a:ea typeface="Noto Sans CJK KR" pitchFamily="34" charset="-122"/>
                <a:cs typeface="Noto Sans CJK KR" pitchFamily="34" charset="-120"/>
              </a:rPr>
              <a:t>만들 때 막고, 고를 때 막고, 낼 때 또 막습니다 — 삼중 구조입니다</a:t>
            </a:r>
            <a:endParaRPr lang="en-US" sz="1200" dirty="0"/>
          </a:p>
        </p:txBody>
      </p:sp>
      <p:sp>
        <p:nvSpPr>
          <p:cNvPr id="21" name="Shape 19"/>
          <p:cNvSpPr/>
          <p:nvPr/>
        </p:nvSpPr>
        <p:spPr>
          <a:xfrm>
            <a:off x="502920" y="4828032"/>
            <a:ext cx="8138160" cy="0"/>
          </a:xfrm>
          <a:prstGeom prst="line">
            <a:avLst/>
          </a:prstGeom>
          <a:noFill/>
          <a:ln w="9525">
            <a:solidFill>
              <a:srgbClr val="CFCBC1"/>
            </a:solidFill>
            <a:prstDash val="solid"/>
          </a:ln>
        </p:spPr>
      </p:sp>
      <p:sp>
        <p:nvSpPr>
          <p:cNvPr id="22" name="Text 20"/>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23" name="Text 21"/>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310896"/>
            <a:ext cx="5486400" cy="256032"/>
          </a:xfrm>
          <a:prstGeom prst="rect">
            <a:avLst/>
          </a:prstGeom>
          <a:noFill/>
          <a:ln/>
        </p:spPr>
        <p:txBody>
          <a:bodyPr wrap="square" lIns="0" tIns="0" rIns="0" bIns="0" rtlCol="0" anchor="ctr"/>
          <a:lstStyle/>
          <a:p>
            <a:pPr indent="0" marL="0">
              <a:buNone/>
            </a:pPr>
            <a:r>
              <a:rPr lang="en-US" sz="1000" spc="400" kern="0" dirty="0">
                <a:solidFill>
                  <a:srgbClr val="6E675A"/>
                </a:solidFill>
                <a:latin typeface="Noto Sans Mono CJK KR" pitchFamily="34" charset="0"/>
                <a:ea typeface="Noto Sans Mono CJK KR" pitchFamily="34" charset="-122"/>
                <a:cs typeface="Noto Sans Mono CJK KR" pitchFamily="34" charset="-120"/>
              </a:rPr>
              <a:t>09 · RELIABILITY</a:t>
            </a:r>
            <a:endParaRPr lang="en-US" sz="1000" dirty="0"/>
          </a:p>
        </p:txBody>
      </p:sp>
      <p:sp>
        <p:nvSpPr>
          <p:cNvPr id="3" name="Text 1"/>
          <p:cNvSpPr/>
          <p:nvPr/>
        </p:nvSpPr>
        <p:spPr>
          <a:xfrm>
            <a:off x="502920" y="548640"/>
            <a:ext cx="8138160" cy="960120"/>
          </a:xfrm>
          <a:prstGeom prst="rect">
            <a:avLst/>
          </a:prstGeom>
          <a:noFill/>
          <a:ln/>
        </p:spPr>
        <p:txBody>
          <a:bodyPr wrap="square" lIns="0" tIns="0" rIns="0" bIns="0" rtlCol="0" anchor="t"/>
          <a:lstStyle/>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오류의 75%는 알파가 아니라 '대기열'이었습니다 —</a:t>
            </a:r>
            <a:endParaRPr lang="en-US" sz="2300" dirty="0"/>
          </a:p>
          <a:p>
            <a:pPr indent="0" marL="0">
              <a:lnSpc>
                <a:spcPct val="112000"/>
              </a:lnSpc>
              <a:buNone/>
            </a:pPr>
            <a:r>
              <a:rPr lang="en-US" sz="2300" b="1" dirty="0">
                <a:solidFill>
                  <a:srgbClr val="1C1914"/>
                </a:solidFill>
                <a:latin typeface="Noto Serif CJK KR" pitchFamily="34" charset="0"/>
                <a:ea typeface="Noto Serif CJK KR" pitchFamily="34" charset="-122"/>
                <a:cs typeface="Noto Serif CJK KR" pitchFamily="34" charset="-120"/>
              </a:rPr>
              <a:t>그래서 폴링부터 고쳤습니다</a:t>
            </a:r>
            <a:endParaRPr lang="en-US" sz="2300" dirty="0"/>
          </a:p>
        </p:txBody>
      </p:sp>
      <p:sp>
        <p:nvSpPr>
          <p:cNvPr id="4" name="Text 2"/>
          <p:cNvSpPr/>
          <p:nvPr/>
        </p:nvSpPr>
        <p:spPr>
          <a:xfrm>
            <a:off x="502920" y="1664208"/>
            <a:ext cx="8138160" cy="274320"/>
          </a:xfrm>
          <a:prstGeom prst="rect">
            <a:avLst/>
          </a:prstGeom>
          <a:noFill/>
          <a:ln/>
        </p:spPr>
        <p:txBody>
          <a:bodyPr wrap="square" lIns="0" tIns="0" rIns="0" bIns="0" rtlCol="0" anchor="ctr"/>
          <a:lstStyle/>
          <a:p>
            <a:pPr indent="0" marL="0">
              <a:buNone/>
            </a:pPr>
            <a:r>
              <a:rPr lang="en-US" sz="1100" i="1" dirty="0">
                <a:solidFill>
                  <a:srgbClr val="6E675A"/>
                </a:solidFill>
                <a:latin typeface="Noto Sans CJK KR" pitchFamily="34" charset="0"/>
                <a:ea typeface="Noto Sans CJK KR" pitchFamily="34" charset="-122"/>
                <a:cs typeface="Noto Sans CJK KR" pitchFamily="34" charset="-120"/>
              </a:rPr>
              <a:t>실측: 최근 400건 오류 중 299건이 우리가 정한 폴링 마감 때문이었습니다 (7/21 원장 분석)</a:t>
            </a:r>
            <a:endParaRPr lang="en-US" sz="1100" dirty="0"/>
          </a:p>
        </p:txBody>
      </p:sp>
      <p:sp>
        <p:nvSpPr>
          <p:cNvPr id="5" name="Shape 3"/>
          <p:cNvSpPr/>
          <p:nvPr/>
        </p:nvSpPr>
        <p:spPr>
          <a:xfrm>
            <a:off x="502920" y="2212848"/>
            <a:ext cx="82296" cy="82296"/>
          </a:xfrm>
          <a:prstGeom prst="rect">
            <a:avLst/>
          </a:prstGeom>
          <a:solidFill>
            <a:srgbClr val="4A443A"/>
          </a:solidFill>
          <a:ln/>
        </p:spPr>
      </p:sp>
      <p:sp>
        <p:nvSpPr>
          <p:cNvPr id="6" name="Text 4"/>
          <p:cNvSpPr/>
          <p:nvPr/>
        </p:nvSpPr>
        <p:spPr>
          <a:xfrm>
            <a:off x="704088" y="2148840"/>
            <a:ext cx="3017520" cy="548640"/>
          </a:xfrm>
          <a:prstGeom prst="rect">
            <a:avLst/>
          </a:prstGeom>
          <a:noFill/>
          <a:ln/>
        </p:spPr>
        <p:txBody>
          <a:bodyPr wrap="square" lIns="0" tIns="0" rIns="0" bIns="0" rtlCol="0" anchor="t"/>
          <a:lstStyle/>
          <a:p>
            <a:pPr indent="0" marL="0">
              <a:lnSpc>
                <a:spcPct val="110000"/>
              </a:lnSpc>
              <a:buNone/>
            </a:pPr>
            <a:r>
              <a:rPr lang="en-US" sz="1250" b="1" dirty="0">
                <a:solidFill>
                  <a:srgbClr val="1C1914"/>
                </a:solidFill>
                <a:latin typeface="Noto Serif CJK KR" pitchFamily="34" charset="0"/>
                <a:ea typeface="Noto Serif CJK KR" pitchFamily="34" charset="-122"/>
                <a:cs typeface="Noto Serif CJK KR" pitchFamily="34" charset="-120"/>
              </a:rPr>
              <a:t>폴링 마감 720초 → 3,600초</a:t>
            </a:r>
            <a:endParaRPr lang="en-US" sz="1250" dirty="0"/>
          </a:p>
        </p:txBody>
      </p:sp>
      <p:sp>
        <p:nvSpPr>
          <p:cNvPr id="7" name="Text 5"/>
          <p:cNvSpPr/>
          <p:nvPr/>
        </p:nvSpPr>
        <p:spPr>
          <a:xfrm>
            <a:off x="3931920" y="2148840"/>
            <a:ext cx="4754880" cy="621792"/>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GLB 시뮬은 대기열 포함 20분이 정상입니다. 정상적으로 느린 시뮬을 죽이지 않습니다.</a:t>
            </a:r>
            <a:endParaRPr lang="en-US" sz="1050" dirty="0"/>
          </a:p>
        </p:txBody>
      </p:sp>
      <p:sp>
        <p:nvSpPr>
          <p:cNvPr id="8" name="Shape 6"/>
          <p:cNvSpPr/>
          <p:nvPr/>
        </p:nvSpPr>
        <p:spPr>
          <a:xfrm>
            <a:off x="704088" y="2752344"/>
            <a:ext cx="7955280" cy="0"/>
          </a:xfrm>
          <a:prstGeom prst="line">
            <a:avLst/>
          </a:prstGeom>
          <a:noFill/>
          <a:ln w="9525">
            <a:solidFill>
              <a:srgbClr val="CFCBC1"/>
            </a:solidFill>
            <a:prstDash val="solid"/>
          </a:ln>
        </p:spPr>
      </p:sp>
      <p:sp>
        <p:nvSpPr>
          <p:cNvPr id="9" name="Shape 7"/>
          <p:cNvSpPr/>
          <p:nvPr/>
        </p:nvSpPr>
        <p:spPr>
          <a:xfrm>
            <a:off x="502920" y="2926080"/>
            <a:ext cx="82296" cy="82296"/>
          </a:xfrm>
          <a:prstGeom prst="rect">
            <a:avLst/>
          </a:prstGeom>
          <a:solidFill>
            <a:srgbClr val="4A443A"/>
          </a:solidFill>
          <a:ln/>
        </p:spPr>
      </p:sp>
      <p:sp>
        <p:nvSpPr>
          <p:cNvPr id="10" name="Text 8"/>
          <p:cNvSpPr/>
          <p:nvPr/>
        </p:nvSpPr>
        <p:spPr>
          <a:xfrm>
            <a:off x="704088" y="2862072"/>
            <a:ext cx="3017520" cy="548640"/>
          </a:xfrm>
          <a:prstGeom prst="rect">
            <a:avLst/>
          </a:prstGeom>
          <a:noFill/>
          <a:ln/>
        </p:spPr>
        <p:txBody>
          <a:bodyPr wrap="square" lIns="0" tIns="0" rIns="0" bIns="0" rtlCol="0" anchor="t"/>
          <a:lstStyle/>
          <a:p>
            <a:pPr indent="0" marL="0">
              <a:lnSpc>
                <a:spcPct val="110000"/>
              </a:lnSpc>
              <a:buNone/>
            </a:pPr>
            <a:r>
              <a:rPr lang="en-US" sz="1250" b="1" dirty="0">
                <a:solidFill>
                  <a:srgbClr val="1C1914"/>
                </a:solidFill>
                <a:latin typeface="Noto Serif CJK KR" pitchFamily="34" charset="0"/>
                <a:ea typeface="Noto Serif CJK KR" pitchFamily="34" charset="-122"/>
                <a:cs typeface="Noto Serif CJK KR" pitchFamily="34" charset="-120"/>
              </a:rPr>
              <a:t>Retry-After 계약 준수</a:t>
            </a:r>
            <a:endParaRPr lang="en-US" sz="1250" dirty="0"/>
          </a:p>
        </p:txBody>
      </p:sp>
      <p:sp>
        <p:nvSpPr>
          <p:cNvPr id="11" name="Text 9"/>
          <p:cNvSpPr/>
          <p:nvPr/>
        </p:nvSpPr>
        <p:spPr>
          <a:xfrm>
            <a:off x="3931920" y="2862072"/>
            <a:ext cx="4754880" cy="621792"/>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서버가 알려주는 간격만큼만 다시 묻습니다. 플랫폼에 부담을 주지 않는 것도 성능입니다.</a:t>
            </a:r>
            <a:endParaRPr lang="en-US" sz="1050" dirty="0"/>
          </a:p>
        </p:txBody>
      </p:sp>
      <p:sp>
        <p:nvSpPr>
          <p:cNvPr id="12" name="Shape 10"/>
          <p:cNvSpPr/>
          <p:nvPr/>
        </p:nvSpPr>
        <p:spPr>
          <a:xfrm>
            <a:off x="704088" y="3465576"/>
            <a:ext cx="7955280" cy="0"/>
          </a:xfrm>
          <a:prstGeom prst="line">
            <a:avLst/>
          </a:prstGeom>
          <a:noFill/>
          <a:ln w="9525">
            <a:solidFill>
              <a:srgbClr val="CFCBC1"/>
            </a:solidFill>
            <a:prstDash val="solid"/>
          </a:ln>
        </p:spPr>
      </p:sp>
      <p:sp>
        <p:nvSpPr>
          <p:cNvPr id="13" name="Shape 11"/>
          <p:cNvSpPr/>
          <p:nvPr/>
        </p:nvSpPr>
        <p:spPr>
          <a:xfrm>
            <a:off x="502920" y="3639312"/>
            <a:ext cx="82296" cy="82296"/>
          </a:xfrm>
          <a:prstGeom prst="rect">
            <a:avLst/>
          </a:prstGeom>
          <a:solidFill>
            <a:srgbClr val="A63A22"/>
          </a:solidFill>
          <a:ln/>
        </p:spPr>
      </p:sp>
      <p:sp>
        <p:nvSpPr>
          <p:cNvPr id="14" name="Text 12"/>
          <p:cNvSpPr/>
          <p:nvPr/>
        </p:nvSpPr>
        <p:spPr>
          <a:xfrm>
            <a:off x="704088" y="3575304"/>
            <a:ext cx="3017520" cy="548640"/>
          </a:xfrm>
          <a:prstGeom prst="rect">
            <a:avLst/>
          </a:prstGeom>
          <a:noFill/>
          <a:ln/>
        </p:spPr>
        <p:txBody>
          <a:bodyPr wrap="square" lIns="0" tIns="0" rIns="0" bIns="0" rtlCol="0" anchor="t"/>
          <a:lstStyle/>
          <a:p>
            <a:pPr indent="0" marL="0">
              <a:lnSpc>
                <a:spcPct val="110000"/>
              </a:lnSpc>
              <a:buNone/>
            </a:pPr>
            <a:r>
              <a:rPr lang="en-US" sz="1250" b="1" dirty="0">
                <a:solidFill>
                  <a:srgbClr val="1C1914"/>
                </a:solidFill>
                <a:latin typeface="Noto Serif CJK KR" pitchFamily="34" charset="0"/>
                <a:ea typeface="Noto Serif CJK KR" pitchFamily="34" charset="-122"/>
                <a:cs typeface="Noto Serif CJK KR" pitchFamily="34" charset="-120"/>
              </a:rPr>
              <a:t>'시작 여부'는 진행률로 판정</a:t>
            </a:r>
            <a:endParaRPr lang="en-US" sz="1250" dirty="0"/>
          </a:p>
        </p:txBody>
      </p:sp>
      <p:sp>
        <p:nvSpPr>
          <p:cNvPr id="15" name="Text 13"/>
          <p:cNvSpPr/>
          <p:nvPr/>
        </p:nvSpPr>
        <p:spPr>
          <a:xfrm>
            <a:off x="3931920" y="3575304"/>
            <a:ext cx="4754880" cy="621792"/>
          </a:xfrm>
          <a:prstGeom prst="rect">
            <a:avLst/>
          </a:prstGeom>
          <a:noFill/>
          <a:ln/>
        </p:spPr>
        <p:txBody>
          <a:bodyPr wrap="square" lIns="0" tIns="0" rIns="0" bIns="0" rtlCol="0" anchor="t"/>
          <a:lstStyle/>
          <a:p>
            <a:pPr indent="0" marL="0">
              <a:lnSpc>
                <a:spcPct val="120000"/>
              </a:lnSpc>
              <a:buNone/>
            </a:pPr>
            <a:r>
              <a:rPr lang="en-US" sz="1050" dirty="0">
                <a:solidFill>
                  <a:srgbClr val="4A443A"/>
                </a:solidFill>
                <a:latin typeface="Noto Sans CJK KR" pitchFamily="34" charset="0"/>
                <a:ea typeface="Noto Sans CJK KR" pitchFamily="34" charset="-122"/>
                <a:cs typeface="Noto Sans CJK KR" pitchFamily="34" charset="-120"/>
              </a:rPr>
              <a:t>상태 필드만 믿다가 실행 중인 시뮬을 대기열로 오판해 버리는 버그를 찾아 고쳤습니다. 판정 기준을 데이터로 검증했습니다.</a:t>
            </a:r>
            <a:endParaRPr lang="en-US" sz="1050" dirty="0"/>
          </a:p>
        </p:txBody>
      </p:sp>
      <p:sp>
        <p:nvSpPr>
          <p:cNvPr id="16" name="Shape 14"/>
          <p:cNvSpPr/>
          <p:nvPr/>
        </p:nvSpPr>
        <p:spPr>
          <a:xfrm>
            <a:off x="502920" y="4315968"/>
            <a:ext cx="82296" cy="82296"/>
          </a:xfrm>
          <a:prstGeom prst="rect">
            <a:avLst/>
          </a:prstGeom>
          <a:solidFill>
            <a:srgbClr val="A63A22"/>
          </a:solidFill>
          <a:ln/>
        </p:spPr>
      </p:sp>
      <p:sp>
        <p:nvSpPr>
          <p:cNvPr id="17" name="Text 15"/>
          <p:cNvSpPr/>
          <p:nvPr/>
        </p:nvSpPr>
        <p:spPr>
          <a:xfrm>
            <a:off x="685800" y="4206240"/>
            <a:ext cx="7955280" cy="320040"/>
          </a:xfrm>
          <a:prstGeom prst="rect">
            <a:avLst/>
          </a:prstGeom>
          <a:noFill/>
          <a:ln/>
        </p:spPr>
        <p:txBody>
          <a:bodyPr wrap="square" lIns="0" tIns="0" rIns="0" bIns="0" rtlCol="0" anchor="ctr"/>
          <a:lstStyle/>
          <a:p>
            <a:pPr indent="0" marL="0">
              <a:buNone/>
            </a:pPr>
            <a:r>
              <a:rPr lang="en-US" sz="1200" b="1" dirty="0">
                <a:solidFill>
                  <a:srgbClr val="1C1914"/>
                </a:solidFill>
                <a:latin typeface="Noto Sans CJK KR" pitchFamily="34" charset="0"/>
                <a:ea typeface="Noto Sans CJK KR" pitchFamily="34" charset="-122"/>
                <a:cs typeface="Noto Sans CJK KR" pitchFamily="34" charset="-120"/>
              </a:rPr>
              <a:t>머신 리서치의 절반은 리서치가 아니라 신뢰성 엔지니어링입니다</a:t>
            </a:r>
            <a:endParaRPr lang="en-US" sz="1200" dirty="0"/>
          </a:p>
        </p:txBody>
      </p:sp>
      <p:sp>
        <p:nvSpPr>
          <p:cNvPr id="18" name="Shape 16"/>
          <p:cNvSpPr/>
          <p:nvPr/>
        </p:nvSpPr>
        <p:spPr>
          <a:xfrm>
            <a:off x="502920" y="4828032"/>
            <a:ext cx="8138160" cy="0"/>
          </a:xfrm>
          <a:prstGeom prst="line">
            <a:avLst/>
          </a:prstGeom>
          <a:noFill/>
          <a:ln w="9525">
            <a:solidFill>
              <a:srgbClr val="CFCBC1"/>
            </a:solidFill>
            <a:prstDash val="solid"/>
          </a:ln>
        </p:spPr>
      </p:sp>
      <p:sp>
        <p:nvSpPr>
          <p:cNvPr id="19" name="Text 17"/>
          <p:cNvSpPr/>
          <p:nvPr/>
        </p:nvSpPr>
        <p:spPr>
          <a:xfrm>
            <a:off x="502920" y="4864608"/>
            <a:ext cx="6858000" cy="219456"/>
          </a:xfrm>
          <a:prstGeom prst="rect">
            <a:avLst/>
          </a:prstGeom>
          <a:noFill/>
          <a:ln/>
        </p:spPr>
        <p:txBody>
          <a:bodyPr wrap="square" lIns="0" tIns="0" rIns="0" bIns="0" rtlCol="0" anchor="ctr"/>
          <a:lstStyle/>
          <a:p>
            <a:pPr indent="0" marL="0">
              <a:buNone/>
            </a:pPr>
            <a:r>
              <a:rPr lang="en-US" sz="750" spc="150" kern="0" dirty="0">
                <a:solidFill>
                  <a:srgbClr val="6E675A"/>
                </a:solidFill>
                <a:latin typeface="Noto Sans Mono CJK KR" pitchFamily="34" charset="0"/>
                <a:ea typeface="Noto Sans Mono CJK KR" pitchFamily="34" charset="-122"/>
                <a:cs typeface="Noto Sans Mono CJK KR" pitchFamily="34" charset="-120"/>
              </a:rPr>
              <a:t>GENOMICWQB — 알파 자동 발굴 머신 · 2026 컨설턴트 서머 부트캠프 머신 발표회</a:t>
            </a:r>
            <a:endParaRPr lang="en-US" sz="750" dirty="0"/>
          </a:p>
        </p:txBody>
      </p:sp>
      <p:sp>
        <p:nvSpPr>
          <p:cNvPr id="20" name="Text 18"/>
          <p:cNvSpPr/>
          <p:nvPr/>
        </p:nvSpPr>
        <p:spPr>
          <a:xfrm>
            <a:off x="8092440" y="4864608"/>
            <a:ext cx="548640" cy="219456"/>
          </a:xfrm>
          <a:prstGeom prst="rect">
            <a:avLst/>
          </a:prstGeom>
          <a:noFill/>
          <a:ln/>
        </p:spPr>
        <p:txBody>
          <a:bodyPr wrap="square" lIns="0" tIns="0" rIns="0" bIns="0" rtlCol="0" anchor="ctr"/>
          <a:lstStyle/>
          <a:p>
            <a:pPr algn="r" indent="0" marL="0">
              <a:buNone/>
            </a:pPr>
            <a:r>
              <a:rPr lang="en-US" sz="800" dirty="0">
                <a:solidFill>
                  <a:srgbClr val="6E675A"/>
                </a:solidFill>
                <a:latin typeface="Noto Sans Mono CJK KR" pitchFamily="34" charset="0"/>
                <a:ea typeface="Noto Sans Mono CJK KR" pitchFamily="34" charset="-122"/>
                <a:cs typeface="Noto Sans Mono CJK KR"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914"/>
        </a:solidFill>
      </p:bgPr>
    </p:bg>
    <p:spTree>
      <p:nvGrpSpPr>
        <p:cNvPr id="1" name=""/>
        <p:cNvGrpSpPr/>
        <p:nvPr/>
      </p:nvGrpSpPr>
      <p:grpSpPr>
        <a:xfrm>
          <a:off x="0" y="0"/>
          <a:ext cx="0" cy="0"/>
          <a:chOff x="0" y="0"/>
          <a:chExt cx="0" cy="0"/>
        </a:xfrm>
      </p:grpSpPr>
      <p:sp>
        <p:nvSpPr>
          <p:cNvPr id="2" name="Text 0"/>
          <p:cNvSpPr/>
          <p:nvPr/>
        </p:nvSpPr>
        <p:spPr>
          <a:xfrm>
            <a:off x="502920" y="502920"/>
            <a:ext cx="3657600" cy="274320"/>
          </a:xfrm>
          <a:prstGeom prst="rect">
            <a:avLst/>
          </a:prstGeom>
          <a:noFill/>
          <a:ln/>
        </p:spPr>
        <p:txBody>
          <a:bodyPr wrap="square" lIns="0" tIns="0" rIns="0" bIns="0" rtlCol="0" anchor="ctr"/>
          <a:lstStyle/>
          <a:p>
            <a:pPr indent="0" marL="0">
              <a:buNone/>
            </a:pPr>
            <a:r>
              <a:rPr lang="en-US" sz="1050" spc="400" kern="0" dirty="0">
                <a:solidFill>
                  <a:srgbClr val="B8B2A6"/>
                </a:solidFill>
                <a:latin typeface="Noto Sans Mono CJK KR" pitchFamily="34" charset="0"/>
                <a:ea typeface="Noto Sans Mono CJK KR" pitchFamily="34" charset="-122"/>
                <a:cs typeface="Noto Sans Mono CJK KR" pitchFamily="34" charset="-120"/>
              </a:rPr>
              <a:t>NEXT</a:t>
            </a:r>
            <a:endParaRPr lang="en-US" sz="1050" dirty="0"/>
          </a:p>
        </p:txBody>
      </p:sp>
      <p:sp>
        <p:nvSpPr>
          <p:cNvPr id="3" name="Shape 1"/>
          <p:cNvSpPr/>
          <p:nvPr/>
        </p:nvSpPr>
        <p:spPr>
          <a:xfrm>
            <a:off x="502920" y="932688"/>
            <a:ext cx="2926080" cy="0"/>
          </a:xfrm>
          <a:prstGeom prst="line">
            <a:avLst/>
          </a:prstGeom>
          <a:noFill/>
          <a:ln w="9525">
            <a:solidFill>
              <a:srgbClr val="45413A"/>
            </a:solidFill>
            <a:prstDash val="solid"/>
          </a:ln>
        </p:spPr>
      </p:sp>
      <p:sp>
        <p:nvSpPr>
          <p:cNvPr id="4" name="Text 2"/>
          <p:cNvSpPr/>
          <p:nvPr/>
        </p:nvSpPr>
        <p:spPr>
          <a:xfrm>
            <a:off x="502920" y="1325880"/>
            <a:ext cx="8138160" cy="640080"/>
          </a:xfrm>
          <a:prstGeom prst="rect">
            <a:avLst/>
          </a:prstGeom>
          <a:noFill/>
          <a:ln/>
        </p:spPr>
        <p:txBody>
          <a:bodyPr wrap="square" lIns="0" tIns="0" rIns="0" bIns="0" rtlCol="0" anchor="ctr"/>
          <a:lstStyle/>
          <a:p>
            <a:pPr indent="0" marL="0">
              <a:buNone/>
            </a:pPr>
            <a:r>
              <a:rPr lang="en-US" sz="3000" b="1" dirty="0">
                <a:solidFill>
                  <a:srgbClr val="F5F1E8"/>
                </a:solidFill>
                <a:latin typeface="Noto Serif CJK KR" pitchFamily="34" charset="0"/>
                <a:ea typeface="Noto Serif CJK KR" pitchFamily="34" charset="-122"/>
                <a:cs typeface="Noto Serif CJK KR" pitchFamily="34" charset="-120"/>
              </a:rPr>
              <a:t>기계는 오늘 밤에도 돌아갑니다</a:t>
            </a:r>
            <a:endParaRPr lang="en-US" sz="3000" dirty="0"/>
          </a:p>
        </p:txBody>
      </p:sp>
      <p:sp>
        <p:nvSpPr>
          <p:cNvPr id="5" name="Shape 3"/>
          <p:cNvSpPr/>
          <p:nvPr/>
        </p:nvSpPr>
        <p:spPr>
          <a:xfrm>
            <a:off x="502920" y="2386584"/>
            <a:ext cx="91440" cy="91440"/>
          </a:xfrm>
          <a:prstGeom prst="rect">
            <a:avLst/>
          </a:prstGeom>
          <a:solidFill>
            <a:srgbClr val="A63A22"/>
          </a:solidFill>
          <a:ln/>
        </p:spPr>
      </p:sp>
      <p:sp>
        <p:nvSpPr>
          <p:cNvPr id="6" name="Text 4"/>
          <p:cNvSpPr/>
          <p:nvPr/>
        </p:nvSpPr>
        <p:spPr>
          <a:xfrm>
            <a:off x="722376" y="2331720"/>
            <a:ext cx="7863840" cy="320040"/>
          </a:xfrm>
          <a:prstGeom prst="rect">
            <a:avLst/>
          </a:prstGeom>
          <a:noFill/>
          <a:ln/>
        </p:spPr>
        <p:txBody>
          <a:bodyPr wrap="square" lIns="0" tIns="0" rIns="0" bIns="0" rtlCol="0" anchor="ctr"/>
          <a:lstStyle/>
          <a:p>
            <a:pPr indent="0" marL="0">
              <a:buNone/>
            </a:pPr>
            <a:r>
              <a:rPr lang="en-US" sz="1400" b="1" dirty="0">
                <a:solidFill>
                  <a:srgbClr val="F5F1E8"/>
                </a:solidFill>
                <a:latin typeface="Noto Serif CJK KR" pitchFamily="34" charset="0"/>
                <a:ea typeface="Noto Serif CJK KR" pitchFamily="34" charset="-122"/>
                <a:cs typeface="Noto Serif CJK KR" pitchFamily="34" charset="-120"/>
              </a:rPr>
              <a:t>GAC 집중   </a:t>
            </a:r>
            <a:pPr indent="0" marL="0">
              <a:buNone/>
            </a:pPr>
            <a:r>
              <a:rPr lang="en-US" sz="1150" dirty="0">
                <a:solidFill>
                  <a:srgbClr val="B8B2A6"/>
                </a:solidFill>
                <a:latin typeface="Noto Sans CJK KR" pitchFamily="34" charset="0"/>
                <a:ea typeface="Noto Sans CJK KR" pitchFamily="34" charset="-122"/>
                <a:cs typeface="Noto Sans CJK KR" pitchFamily="34" charset="-120"/>
              </a:rPr>
              <a:t>8월 9일까지의 글로벌 리전 무테마 구간에 제출을 집중합니다</a:t>
            </a:r>
            <a:endParaRPr lang="en-US" sz="1400" dirty="0"/>
          </a:p>
        </p:txBody>
      </p:sp>
      <p:sp>
        <p:nvSpPr>
          <p:cNvPr id="7" name="Shape 5"/>
          <p:cNvSpPr/>
          <p:nvPr/>
        </p:nvSpPr>
        <p:spPr>
          <a:xfrm>
            <a:off x="502920" y="2953512"/>
            <a:ext cx="91440" cy="91440"/>
          </a:xfrm>
          <a:prstGeom prst="rect">
            <a:avLst/>
          </a:prstGeom>
          <a:solidFill>
            <a:srgbClr val="A63A22"/>
          </a:solidFill>
          <a:ln/>
        </p:spPr>
      </p:sp>
      <p:sp>
        <p:nvSpPr>
          <p:cNvPr id="8" name="Text 6"/>
          <p:cNvSpPr/>
          <p:nvPr/>
        </p:nvSpPr>
        <p:spPr>
          <a:xfrm>
            <a:off x="722376" y="2898648"/>
            <a:ext cx="7863840" cy="320040"/>
          </a:xfrm>
          <a:prstGeom prst="rect">
            <a:avLst/>
          </a:prstGeom>
          <a:noFill/>
          <a:ln/>
        </p:spPr>
        <p:txBody>
          <a:bodyPr wrap="square" lIns="0" tIns="0" rIns="0" bIns="0" rtlCol="0" anchor="ctr"/>
          <a:lstStyle/>
          <a:p>
            <a:pPr indent="0" marL="0">
              <a:buNone/>
            </a:pPr>
            <a:r>
              <a:rPr lang="en-US" sz="1400" b="1" dirty="0">
                <a:solidFill>
                  <a:srgbClr val="F5F1E8"/>
                </a:solidFill>
                <a:latin typeface="Noto Serif CJK KR" pitchFamily="34" charset="0"/>
                <a:ea typeface="Noto Serif CJK KR" pitchFamily="34" charset="-122"/>
                <a:cs typeface="Noto Serif CJK KR" pitchFamily="34" charset="-120"/>
              </a:rPr>
              <a:t>다변화 상시화   </a:t>
            </a:r>
            <a:pPr indent="0" marL="0">
              <a:buNone/>
            </a:pPr>
            <a:r>
              <a:rPr lang="en-US" sz="1150" dirty="0">
                <a:solidFill>
                  <a:srgbClr val="B8B2A6"/>
                </a:solidFill>
                <a:latin typeface="Noto Sans CJK KR" pitchFamily="34" charset="0"/>
                <a:ea typeface="Noto Sans CJK KR" pitchFamily="34" charset="-122"/>
                <a:cs typeface="Noto Sans CJK KR" pitchFamily="34" charset="-120"/>
              </a:rPr>
              <a:t>미탐색 패밀리 시딩을 상시 루프에 넣어 쏠림을 구조적으로 막습니다</a:t>
            </a:r>
            <a:endParaRPr lang="en-US" sz="1400" dirty="0"/>
          </a:p>
        </p:txBody>
      </p:sp>
      <p:sp>
        <p:nvSpPr>
          <p:cNvPr id="9" name="Shape 7"/>
          <p:cNvSpPr/>
          <p:nvPr/>
        </p:nvSpPr>
        <p:spPr>
          <a:xfrm>
            <a:off x="502920" y="3520440"/>
            <a:ext cx="91440" cy="91440"/>
          </a:xfrm>
          <a:prstGeom prst="rect">
            <a:avLst/>
          </a:prstGeom>
          <a:solidFill>
            <a:srgbClr val="A63A22"/>
          </a:solidFill>
          <a:ln/>
        </p:spPr>
      </p:sp>
      <p:sp>
        <p:nvSpPr>
          <p:cNvPr id="10" name="Text 8"/>
          <p:cNvSpPr/>
          <p:nvPr/>
        </p:nvSpPr>
        <p:spPr>
          <a:xfrm>
            <a:off x="722376" y="3465576"/>
            <a:ext cx="7863840" cy="320040"/>
          </a:xfrm>
          <a:prstGeom prst="rect">
            <a:avLst/>
          </a:prstGeom>
          <a:noFill/>
          <a:ln/>
        </p:spPr>
        <p:txBody>
          <a:bodyPr wrap="square" lIns="0" tIns="0" rIns="0" bIns="0" rtlCol="0" anchor="ctr"/>
          <a:lstStyle/>
          <a:p>
            <a:pPr indent="0" marL="0">
              <a:buNone/>
            </a:pPr>
            <a:r>
              <a:rPr lang="en-US" sz="1400" b="1" dirty="0">
                <a:solidFill>
                  <a:srgbClr val="F5F1E8"/>
                </a:solidFill>
                <a:latin typeface="Noto Serif CJK KR" pitchFamily="34" charset="0"/>
                <a:ea typeface="Noto Serif CJK KR" pitchFamily="34" charset="-122"/>
                <a:cs typeface="Noto Serif CJK KR" pitchFamily="34" charset="-120"/>
              </a:rPr>
              <a:t>확장   </a:t>
            </a:r>
            <a:pPr indent="0" marL="0">
              <a:buNone/>
            </a:pPr>
            <a:r>
              <a:rPr lang="en-US" sz="1150" dirty="0">
                <a:solidFill>
                  <a:srgbClr val="B8B2A6"/>
                </a:solidFill>
                <a:latin typeface="Noto Sans CJK KR" pitchFamily="34" charset="0"/>
                <a:ea typeface="Noto Sans CJK KR" pitchFamily="34" charset="-122"/>
                <a:cs typeface="Noto Sans CJK KR" pitchFamily="34" charset="-120"/>
              </a:rPr>
              <a:t>부트캠프 이후 멀티 리전 · 멀티 세팅으로 같은 기계를 수평 확장합니다</a:t>
            </a:r>
            <a:endParaRPr lang="en-US" sz="1400" dirty="0"/>
          </a:p>
        </p:txBody>
      </p:sp>
      <p:sp>
        <p:nvSpPr>
          <p:cNvPr id="11" name="Shape 9"/>
          <p:cNvSpPr/>
          <p:nvPr/>
        </p:nvSpPr>
        <p:spPr>
          <a:xfrm>
            <a:off x="502920" y="4224528"/>
            <a:ext cx="8138160" cy="0"/>
          </a:xfrm>
          <a:prstGeom prst="line">
            <a:avLst/>
          </a:prstGeom>
          <a:noFill/>
          <a:ln w="9525">
            <a:solidFill>
              <a:srgbClr val="45413A"/>
            </a:solidFill>
            <a:prstDash val="solid"/>
          </a:ln>
        </p:spPr>
      </p:sp>
      <p:sp>
        <p:nvSpPr>
          <p:cNvPr id="12" name="Text 10"/>
          <p:cNvSpPr/>
          <p:nvPr/>
        </p:nvSpPr>
        <p:spPr>
          <a:xfrm>
            <a:off x="5440680" y="4334256"/>
            <a:ext cx="3200400" cy="274320"/>
          </a:xfrm>
          <a:prstGeom prst="rect">
            <a:avLst/>
          </a:prstGeom>
          <a:noFill/>
          <a:ln/>
        </p:spPr>
        <p:txBody>
          <a:bodyPr wrap="square" lIns="0" tIns="0" rIns="0" bIns="0" rtlCol="0" anchor="ctr"/>
          <a:lstStyle/>
          <a:p>
            <a:pPr algn="r" indent="0" marL="0">
              <a:buNone/>
            </a:pPr>
            <a:r>
              <a:rPr lang="en-US" sz="1050" spc="200" kern="0" dirty="0">
                <a:solidFill>
                  <a:srgbClr val="B8B2A6"/>
                </a:solidFill>
                <a:latin typeface="Noto Sans Mono CJK KR" pitchFamily="34" charset="0"/>
                <a:ea typeface="Noto Sans Mono CJK KR" pitchFamily="34" charset="-122"/>
                <a:cs typeface="Noto Sans Mono CJK KR" pitchFamily="34" charset="-120"/>
              </a:rPr>
              <a:t>감사합니다  ·  김현호</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GenomicWQB — 알파 자동 발굴 머신</dc:title>
  <dc:subject>PptxGenJS Presentation</dc:subject>
  <dc:creator>김현호</dc:creator>
  <cp:lastModifiedBy>김현호</cp:lastModifiedBy>
  <cp:revision>1</cp:revision>
  <dcterms:created xsi:type="dcterms:W3CDTF">2026-07-31T02:54:56Z</dcterms:created>
  <dcterms:modified xsi:type="dcterms:W3CDTF">2026-07-31T02:54:56Z</dcterms:modified>
</cp:coreProperties>
</file>